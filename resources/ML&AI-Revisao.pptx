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be38242d9f49a8a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be38242d9f49a8a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be38242d9f49a8a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hbe38242d9f49a8a_3_1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be38242d9f49a8a_3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be38242d9f49a8a_3_16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be38242d9f49a8a_3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be38242d9f49a8a_3_18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be38242d9f49a8a_3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hbe38242d9f49a8a_3_2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be38242d9f49a8a_3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hbe38242d9f49a8a_3_2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be38242d9f49a8a_3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hbe38242d9f49a8a_3_30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be38242d9f49a8a_3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hbe38242d9f49a8a_3_34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be38242d9f49a8a_3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be38242d9f49a8a_3_3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be38242d9f49a8a_3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be38242d9f49a8a_3_43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be38242d9f49a8a_3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be38242d9f49a8a_3_47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be38242d9f49a8a_3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hbe38242d9f49a8a_3_5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hbe38242d9f49a8a_3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hbe38242d9f49a8a_3_58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hbe38242d9f49a8a_3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hbe38242d9f49a8a_3_65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hbe38242d9f49a8a_3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hbe38242d9f49a8a_3_76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hbe38242d9f49a8a_3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hbe38242d9f49a8a_3_81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hbe38242d9f49a8a_3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hbe38242d9f49a8a_3_91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B2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6446692" y="0"/>
            <a:ext cx="2697323" cy="5143500"/>
          </a:xfrm>
          <a:prstGeom prst="rect">
            <a:avLst/>
          </a:prstGeom>
          <a:solidFill>
            <a:srgbClr val="1828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6679870" y="713232"/>
            <a:ext cx="356626" cy="35661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7701739" y="1255014"/>
            <a:ext cx="233178" cy="233172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075510" y="1903095"/>
            <a:ext cx="445782" cy="445770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7262816" y="2839211"/>
            <a:ext cx="288044" cy="288036"/>
          </a:xfrm>
          <a:prstGeom prst="ellipse">
            <a:avLst/>
          </a:prstGeom>
          <a:solidFill>
            <a:srgbClr val="E160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8106372" y="3648456"/>
            <a:ext cx="246895" cy="246888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6635292" y="4097655"/>
            <a:ext cx="171455" cy="171450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25"/>
          <p:cNvCxnSpPr/>
          <p:nvPr/>
        </p:nvCxnSpPr>
        <p:spPr>
          <a:xfrm>
            <a:off x="6858183" y="891540"/>
            <a:ext cx="960146" cy="480060"/>
          </a:xfrm>
          <a:prstGeom prst="straightConnector1">
            <a:avLst/>
          </a:prstGeom>
          <a:noFill/>
          <a:ln cap="flat" cmpd="sng" w="15225">
            <a:solidFill>
              <a:srgbClr val="314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7" name="Google Shape;137;p25"/>
          <p:cNvCxnSpPr/>
          <p:nvPr/>
        </p:nvCxnSpPr>
        <p:spPr>
          <a:xfrm>
            <a:off x="7818328" y="1371600"/>
            <a:ext cx="480073" cy="754380"/>
          </a:xfrm>
          <a:prstGeom prst="straightConnector1">
            <a:avLst/>
          </a:prstGeom>
          <a:noFill/>
          <a:ln cap="flat" cmpd="sng" w="15225">
            <a:solidFill>
              <a:srgbClr val="314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8" name="Google Shape;138;p25"/>
          <p:cNvCxnSpPr/>
          <p:nvPr/>
        </p:nvCxnSpPr>
        <p:spPr>
          <a:xfrm flipH="1">
            <a:off x="7406837" y="2125980"/>
            <a:ext cx="891564" cy="857249"/>
          </a:xfrm>
          <a:prstGeom prst="straightConnector1">
            <a:avLst/>
          </a:prstGeom>
          <a:noFill/>
          <a:ln cap="flat" cmpd="sng" w="15225">
            <a:solidFill>
              <a:srgbClr val="314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9" name="Google Shape;139;p25"/>
          <p:cNvCxnSpPr/>
          <p:nvPr/>
        </p:nvCxnSpPr>
        <p:spPr>
          <a:xfrm>
            <a:off x="7406837" y="2983229"/>
            <a:ext cx="822982" cy="788671"/>
          </a:xfrm>
          <a:prstGeom prst="straightConnector1">
            <a:avLst/>
          </a:prstGeom>
          <a:noFill/>
          <a:ln cap="flat" cmpd="sng" w="15225">
            <a:solidFill>
              <a:srgbClr val="314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0" name="Google Shape;140;p25"/>
          <p:cNvCxnSpPr/>
          <p:nvPr/>
        </p:nvCxnSpPr>
        <p:spPr>
          <a:xfrm flipH="1">
            <a:off x="6721019" y="891540"/>
            <a:ext cx="137164" cy="3291840"/>
          </a:xfrm>
          <a:prstGeom prst="straightConnector1">
            <a:avLst/>
          </a:prstGeom>
          <a:noFill/>
          <a:ln cap="flat" cmpd="sng" w="15225">
            <a:solidFill>
              <a:srgbClr val="314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1" name="Google Shape;141;p25"/>
          <p:cNvCxnSpPr/>
          <p:nvPr/>
        </p:nvCxnSpPr>
        <p:spPr>
          <a:xfrm flipH="1" rot="10800000">
            <a:off x="6721019" y="3771900"/>
            <a:ext cx="1508800" cy="411480"/>
          </a:xfrm>
          <a:prstGeom prst="straightConnector1">
            <a:avLst/>
          </a:prstGeom>
          <a:noFill/>
          <a:ln cap="flat" cmpd="sng" w="15225">
            <a:solidFill>
              <a:srgbClr val="314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2" name="Google Shape;142;p25"/>
          <p:cNvCxnSpPr/>
          <p:nvPr/>
        </p:nvCxnSpPr>
        <p:spPr>
          <a:xfrm flipH="1">
            <a:off x="7406837" y="1371600"/>
            <a:ext cx="411491" cy="1611629"/>
          </a:xfrm>
          <a:prstGeom prst="straightConnector1">
            <a:avLst/>
          </a:prstGeom>
          <a:noFill/>
          <a:ln cap="flat" cmpd="sng" w="15225">
            <a:solidFill>
              <a:srgbClr val="314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25"/>
          <p:cNvSpPr/>
          <p:nvPr/>
        </p:nvSpPr>
        <p:spPr>
          <a:xfrm>
            <a:off x="582946" y="534924"/>
            <a:ext cx="1371637" cy="198882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610378" y="545211"/>
            <a:ext cx="131677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87F79"/>
                </a:solidFill>
                <a:latin typeface="Arial"/>
                <a:ea typeface="Arial"/>
                <a:cs typeface="Arial"/>
                <a:sym typeface="Arial"/>
              </a:rPr>
              <a:t>AULA DE REVISÃO</a:t>
            </a:r>
            <a:endParaRPr sz="1100"/>
          </a:p>
        </p:txBody>
      </p:sp>
      <p:sp>
        <p:nvSpPr>
          <p:cNvPr id="145" name="Google Shape;145;p25"/>
          <p:cNvSpPr txBox="1"/>
          <p:nvPr/>
        </p:nvSpPr>
        <p:spPr>
          <a:xfrm>
            <a:off x="569229" y="1014984"/>
            <a:ext cx="562370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DEEP LEARNING</a:t>
            </a:r>
            <a:endParaRPr sz="1100"/>
          </a:p>
        </p:txBody>
      </p:sp>
      <p:sp>
        <p:nvSpPr>
          <p:cNvPr id="146" name="Google Shape;146;p25"/>
          <p:cNvSpPr txBox="1"/>
          <p:nvPr/>
        </p:nvSpPr>
        <p:spPr>
          <a:xfrm>
            <a:off x="589804" y="2366010"/>
            <a:ext cx="5143637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300" u="none" cap="none" strike="noStrike">
                <a:solidFill>
                  <a:srgbClr val="B9C7D9"/>
                </a:solidFill>
                <a:latin typeface="Arial"/>
                <a:ea typeface="Arial"/>
                <a:cs typeface="Arial"/>
                <a:sym typeface="Arial"/>
              </a:rPr>
              <a:t>Dos problemas preditivos às arquiteturas generativas</a:t>
            </a:r>
            <a:endParaRPr sz="1100"/>
          </a:p>
        </p:txBody>
      </p:sp>
      <p:cxnSp>
        <p:nvCxnSpPr>
          <p:cNvPr id="147" name="Google Shape;147;p25"/>
          <p:cNvCxnSpPr/>
          <p:nvPr/>
        </p:nvCxnSpPr>
        <p:spPr>
          <a:xfrm>
            <a:off x="589804" y="3031236"/>
            <a:ext cx="3010742" cy="0"/>
          </a:xfrm>
          <a:prstGeom prst="straightConnector1">
            <a:avLst/>
          </a:prstGeom>
          <a:noFill/>
          <a:ln cap="flat" cmpd="sng" w="3810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8" name="Google Shape;148;p25"/>
          <p:cNvSpPr txBox="1"/>
          <p:nvPr/>
        </p:nvSpPr>
        <p:spPr>
          <a:xfrm>
            <a:off x="589804" y="3236976"/>
            <a:ext cx="5075055" cy="569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Conceitos essenciais • arquiteturas • generalização • escolha de modelos</a:t>
            </a:r>
            <a:endParaRPr sz="1100"/>
          </a:p>
        </p:txBody>
      </p:sp>
      <p:sp>
        <p:nvSpPr>
          <p:cNvPr id="149" name="Google Shape;149;p25"/>
          <p:cNvSpPr txBox="1"/>
          <p:nvPr/>
        </p:nvSpPr>
        <p:spPr>
          <a:xfrm>
            <a:off x="589804" y="4594860"/>
            <a:ext cx="52122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91A4BD"/>
                </a:solidFill>
                <a:latin typeface="Arial"/>
                <a:ea typeface="Arial"/>
                <a:cs typeface="Arial"/>
                <a:sym typeface="Arial"/>
              </a:rPr>
              <a:t>MACHINE LEARNING &amp; AI  |  REVISÃO GERAL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Por que usar Machine Learning?</a:t>
            </a:r>
            <a:endParaRPr sz="1100"/>
          </a:p>
        </p:txBody>
      </p:sp>
      <p:sp>
        <p:nvSpPr>
          <p:cNvPr id="156" name="Google Shape;156;p26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ML é útil quando padrões relevantes podem ser aprendidos de exemplos e não são bem descritos por regras fixas.</a:t>
            </a:r>
            <a:endParaRPr sz="1100"/>
          </a:p>
        </p:txBody>
      </p:sp>
      <p:sp>
        <p:nvSpPr>
          <p:cNvPr id="157" name="Google Shape;157;p26"/>
          <p:cNvSpPr/>
          <p:nvPr/>
        </p:nvSpPr>
        <p:spPr>
          <a:xfrm>
            <a:off x="493789" y="1131570"/>
            <a:ext cx="2606109" cy="2640330"/>
          </a:xfrm>
          <a:prstGeom prst="roundRect">
            <a:avLst>
              <a:gd fmla="val 12000" name="adj"/>
            </a:avLst>
          </a:prstGeom>
          <a:solidFill>
            <a:srgbClr val="FCEBED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493789" y="1131570"/>
            <a:ext cx="48007" cy="2640330"/>
          </a:xfrm>
          <a:prstGeom prst="rect">
            <a:avLst/>
          </a:prstGeom>
          <a:solidFill>
            <a:srgbClr val="E160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617236" y="1220723"/>
            <a:ext cx="238664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Regras explícitas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617236" y="1488186"/>
            <a:ext cx="2386648" cy="221513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Pessoa escreve “SE… ENTÃO…”.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✓ Funciona bem quando regras são claras e estáveis.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⚠️ Fica frágil com muitas exceções, combinações e mudanças de comportamento.</a:t>
            </a:r>
            <a:endParaRPr sz="1100"/>
          </a:p>
        </p:txBody>
      </p:sp>
      <p:sp>
        <p:nvSpPr>
          <p:cNvPr id="161" name="Google Shape;161;p26"/>
          <p:cNvSpPr/>
          <p:nvPr/>
        </p:nvSpPr>
        <p:spPr>
          <a:xfrm>
            <a:off x="3278211" y="1131570"/>
            <a:ext cx="2606109" cy="2640330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278211" y="1131570"/>
            <a:ext cx="48007" cy="264033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3401659" y="1220723"/>
            <a:ext cx="238664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3401659" y="1488186"/>
            <a:ext cx="2386648" cy="221513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O algoritmo ajusta parâmetros a partir de exemplos.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✓ Descobre padrões complexos e combinações de sinais.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⚠️ Depende de dados representativos, avaliação e monitoramento.</a:t>
            </a:r>
            <a:endParaRPr sz="1100"/>
          </a:p>
        </p:txBody>
      </p:sp>
      <p:sp>
        <p:nvSpPr>
          <p:cNvPr id="165" name="Google Shape;165;p26"/>
          <p:cNvSpPr/>
          <p:nvPr/>
        </p:nvSpPr>
        <p:spPr>
          <a:xfrm>
            <a:off x="6062634" y="1131570"/>
            <a:ext cx="2606109" cy="2640330"/>
          </a:xfrm>
          <a:prstGeom prst="roundRect">
            <a:avLst>
              <a:gd fmla="val 12000" name="adj"/>
            </a:avLst>
          </a:prstGeom>
          <a:solidFill>
            <a:srgbClr val="EAF1FA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6062634" y="1131570"/>
            <a:ext cx="48007" cy="2640330"/>
          </a:xfrm>
          <a:prstGeom prst="rect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6186081" y="1220723"/>
            <a:ext cx="238664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sz="1100"/>
          </a:p>
        </p:txBody>
      </p:sp>
      <p:sp>
        <p:nvSpPr>
          <p:cNvPr id="168" name="Google Shape;168;p26"/>
          <p:cNvSpPr txBox="1"/>
          <p:nvPr/>
        </p:nvSpPr>
        <p:spPr>
          <a:xfrm>
            <a:off x="6186081" y="1488186"/>
            <a:ext cx="2386648" cy="221513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Aprende representações em redes com múltiplas camadas.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✓ Forte em imagem, áudio, texto e dados de alta dimensão.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⚠️ Pode exigir mais dados, computação e explicabilidade.</a:t>
            </a:r>
            <a:endParaRPr sz="1100"/>
          </a:p>
        </p:txBody>
      </p:sp>
      <p:sp>
        <p:nvSpPr>
          <p:cNvPr id="169" name="Google Shape;169;p26"/>
          <p:cNvSpPr/>
          <p:nvPr/>
        </p:nvSpPr>
        <p:spPr>
          <a:xfrm>
            <a:off x="528080" y="3991356"/>
            <a:ext cx="8058365" cy="438912"/>
          </a:xfrm>
          <a:prstGeom prst="roundRect">
            <a:avLst>
              <a:gd fmla="val 12000" name="adj"/>
            </a:avLst>
          </a:prstGeom>
          <a:solidFill>
            <a:srgbClr val="FFF3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685818" y="4094226"/>
            <a:ext cx="774974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Não é “ML sempre”: se uma regra simples resolve bem, talvez ela seja a melhor solução.</a:t>
            </a:r>
            <a:endParaRPr sz="1100"/>
          </a:p>
        </p:txBody>
      </p:sp>
      <p:cxnSp>
        <p:nvCxnSpPr>
          <p:cNvPr id="171" name="Google Shape;171;p26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26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173" name="Google Shape;173;p26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Quando ML faz sentido — e quando não faz</a:t>
            </a:r>
            <a:endParaRPr sz="1100"/>
          </a:p>
        </p:txBody>
      </p:sp>
      <p:sp>
        <p:nvSpPr>
          <p:cNvPr id="180" name="Google Shape;180;p27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tecnologia deve seguir o problema, não o contrário.</a:t>
            </a:r>
            <a:endParaRPr sz="1100"/>
          </a:p>
        </p:txBody>
      </p:sp>
      <p:sp>
        <p:nvSpPr>
          <p:cNvPr id="181" name="Google Shape;181;p27"/>
          <p:cNvSpPr/>
          <p:nvPr/>
        </p:nvSpPr>
        <p:spPr>
          <a:xfrm>
            <a:off x="514364" y="1131570"/>
            <a:ext cx="3943455" cy="32232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514364" y="1131570"/>
            <a:ext cx="48007" cy="322326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637811" y="1220723"/>
            <a:ext cx="372399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Bom candidato para ML</a:t>
            </a:r>
            <a:endParaRPr sz="1100"/>
          </a:p>
        </p:txBody>
      </p:sp>
      <p:sp>
        <p:nvSpPr>
          <p:cNvPr id="184" name="Google Shape;184;p27"/>
          <p:cNvSpPr txBox="1"/>
          <p:nvPr/>
        </p:nvSpPr>
        <p:spPr>
          <a:xfrm>
            <a:off x="637811" y="1488186"/>
            <a:ext cx="3723993" cy="2798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Há exemplos históricos suficientes.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O resultado desejado pode ser medido.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Existem padrões difíceis de codificar manualmente.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É aceitável decidir com incerteza e calibrar riscos.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O sistema pode ser monitorado quando os dados mudarem.</a:t>
            </a:r>
            <a:endParaRPr sz="1100"/>
          </a:p>
        </p:txBody>
      </p:sp>
      <p:sp>
        <p:nvSpPr>
          <p:cNvPr id="185" name="Google Shape;185;p27"/>
          <p:cNvSpPr/>
          <p:nvPr/>
        </p:nvSpPr>
        <p:spPr>
          <a:xfrm>
            <a:off x="4649848" y="1131570"/>
            <a:ext cx="3943455" cy="32232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4649848" y="1131570"/>
            <a:ext cx="48007" cy="322326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4773295" y="1220723"/>
            <a:ext cx="372399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Talvez não precise de ML</a:t>
            </a:r>
            <a:endParaRPr sz="1100"/>
          </a:p>
        </p:txBody>
      </p:sp>
      <p:sp>
        <p:nvSpPr>
          <p:cNvPr id="188" name="Google Shape;188;p27"/>
          <p:cNvSpPr txBox="1"/>
          <p:nvPr/>
        </p:nvSpPr>
        <p:spPr>
          <a:xfrm>
            <a:off x="4773295" y="1488186"/>
            <a:ext cx="3723993" cy="2798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A regra é simples, determinística e muda pouco.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Não há dados confiáveis nem forma de avaliar.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Erros são inaceitáveis e não há revisão/mitigação.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O custo de operar o modelo supera o benefício.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724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• O “rótulo” histórico reflete vieses ou decisões ruins.</a:t>
            </a:r>
            <a:endParaRPr sz="1100"/>
          </a:p>
        </p:txBody>
      </p:sp>
      <p:cxnSp>
        <p:nvCxnSpPr>
          <p:cNvPr id="189" name="Google Shape;189;p27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0" name="Google Shape;190;p27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191" name="Google Shape;191;p27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O ciclo de vida de um projeto de ML</a:t>
            </a:r>
            <a:endParaRPr sz="1100"/>
          </a:p>
        </p:txBody>
      </p:sp>
      <p:sp>
        <p:nvSpPr>
          <p:cNvPr id="198" name="Google Shape;198;p28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 treinamento é apenas uma etapa do sistema.</a:t>
            </a:r>
            <a:endParaRPr sz="1100"/>
          </a:p>
        </p:txBody>
      </p:sp>
      <p:sp>
        <p:nvSpPr>
          <p:cNvPr id="199" name="Google Shape;199;p28"/>
          <p:cNvSpPr/>
          <p:nvPr/>
        </p:nvSpPr>
        <p:spPr>
          <a:xfrm>
            <a:off x="384058" y="1543050"/>
            <a:ext cx="1268764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480073" y="1652778"/>
            <a:ext cx="288044" cy="288036"/>
          </a:xfrm>
          <a:prstGeom prst="ellipse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514364" y="1687068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202" name="Google Shape;202;p28"/>
          <p:cNvSpPr txBox="1"/>
          <p:nvPr/>
        </p:nvSpPr>
        <p:spPr>
          <a:xfrm>
            <a:off x="507506" y="2112264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Definir</a:t>
            </a:r>
            <a:endParaRPr sz="1100"/>
          </a:p>
        </p:txBody>
      </p:sp>
      <p:sp>
        <p:nvSpPr>
          <p:cNvPr id="203" name="Google Shape;203;p28"/>
          <p:cNvSpPr txBox="1"/>
          <p:nvPr/>
        </p:nvSpPr>
        <p:spPr>
          <a:xfrm>
            <a:off x="507506" y="2386584"/>
            <a:ext cx="101501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Objetivo, decisão e custo do erro</a:t>
            </a:r>
            <a:endParaRPr sz="1100"/>
          </a:p>
        </p:txBody>
      </p:sp>
      <p:cxnSp>
        <p:nvCxnSpPr>
          <p:cNvPr id="204" name="Google Shape;204;p28"/>
          <p:cNvCxnSpPr/>
          <p:nvPr/>
        </p:nvCxnSpPr>
        <p:spPr>
          <a:xfrm>
            <a:off x="1666538" y="2228850"/>
            <a:ext cx="144022" cy="0"/>
          </a:xfrm>
          <a:prstGeom prst="straightConnector1">
            <a:avLst/>
          </a:prstGeom>
          <a:noFill/>
          <a:ln cap="flat" cmpd="sng" w="1777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5" name="Google Shape;205;p28"/>
          <p:cNvSpPr/>
          <p:nvPr/>
        </p:nvSpPr>
        <p:spPr>
          <a:xfrm rot="5400000">
            <a:off x="1761183" y="2179471"/>
            <a:ext cx="98755" cy="9875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1837993" y="1543050"/>
            <a:ext cx="1268764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1934008" y="1652778"/>
            <a:ext cx="288044" cy="28803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1968298" y="1687068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09" name="Google Shape;209;p28"/>
          <p:cNvSpPr txBox="1"/>
          <p:nvPr/>
        </p:nvSpPr>
        <p:spPr>
          <a:xfrm>
            <a:off x="1961440" y="2112264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Preparar</a:t>
            </a:r>
            <a:endParaRPr sz="1100"/>
          </a:p>
        </p:txBody>
      </p:sp>
      <p:sp>
        <p:nvSpPr>
          <p:cNvPr id="210" name="Google Shape;210;p28"/>
          <p:cNvSpPr txBox="1"/>
          <p:nvPr/>
        </p:nvSpPr>
        <p:spPr>
          <a:xfrm>
            <a:off x="1961440" y="2386584"/>
            <a:ext cx="101501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Coletar, limpar e entender dados</a:t>
            </a:r>
            <a:endParaRPr sz="1100"/>
          </a:p>
        </p:txBody>
      </p:sp>
      <p:cxnSp>
        <p:nvCxnSpPr>
          <p:cNvPr id="211" name="Google Shape;211;p28"/>
          <p:cNvCxnSpPr/>
          <p:nvPr/>
        </p:nvCxnSpPr>
        <p:spPr>
          <a:xfrm>
            <a:off x="3120473" y="2228850"/>
            <a:ext cx="144022" cy="0"/>
          </a:xfrm>
          <a:prstGeom prst="straightConnector1">
            <a:avLst/>
          </a:prstGeom>
          <a:noFill/>
          <a:ln cap="flat" cmpd="sng" w="1777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2" name="Google Shape;212;p28"/>
          <p:cNvSpPr/>
          <p:nvPr/>
        </p:nvSpPr>
        <p:spPr>
          <a:xfrm rot="5400000">
            <a:off x="3215117" y="2179471"/>
            <a:ext cx="98755" cy="9875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3291928" y="1543050"/>
            <a:ext cx="1268764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3387942" y="1652778"/>
            <a:ext cx="288044" cy="288036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3422233" y="1687068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16" name="Google Shape;216;p28"/>
          <p:cNvSpPr txBox="1"/>
          <p:nvPr/>
        </p:nvSpPr>
        <p:spPr>
          <a:xfrm>
            <a:off x="3415375" y="2112264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Separar</a:t>
            </a:r>
            <a:endParaRPr sz="1100"/>
          </a:p>
        </p:txBody>
      </p:sp>
      <p:sp>
        <p:nvSpPr>
          <p:cNvPr id="217" name="Google Shape;217;p28"/>
          <p:cNvSpPr txBox="1"/>
          <p:nvPr/>
        </p:nvSpPr>
        <p:spPr>
          <a:xfrm>
            <a:off x="3415375" y="2386584"/>
            <a:ext cx="101501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Treino / validação / teste</a:t>
            </a:r>
            <a:endParaRPr sz="1100"/>
          </a:p>
        </p:txBody>
      </p:sp>
      <p:cxnSp>
        <p:nvCxnSpPr>
          <p:cNvPr id="218" name="Google Shape;218;p28"/>
          <p:cNvCxnSpPr/>
          <p:nvPr/>
        </p:nvCxnSpPr>
        <p:spPr>
          <a:xfrm>
            <a:off x="4574408" y="2228850"/>
            <a:ext cx="144022" cy="0"/>
          </a:xfrm>
          <a:prstGeom prst="straightConnector1">
            <a:avLst/>
          </a:prstGeom>
          <a:noFill/>
          <a:ln cap="flat" cmpd="sng" w="1777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9" name="Google Shape;219;p28"/>
          <p:cNvSpPr/>
          <p:nvPr/>
        </p:nvSpPr>
        <p:spPr>
          <a:xfrm rot="5400000">
            <a:off x="4669052" y="2179471"/>
            <a:ext cx="98755" cy="9875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4745863" y="1543050"/>
            <a:ext cx="1268764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4841877" y="1652778"/>
            <a:ext cx="288044" cy="288036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876168" y="1687068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23" name="Google Shape;223;p28"/>
          <p:cNvSpPr txBox="1"/>
          <p:nvPr/>
        </p:nvSpPr>
        <p:spPr>
          <a:xfrm>
            <a:off x="4869310" y="2112264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Treinar</a:t>
            </a:r>
            <a:endParaRPr sz="1100"/>
          </a:p>
        </p:txBody>
      </p:sp>
      <p:sp>
        <p:nvSpPr>
          <p:cNvPr id="224" name="Google Shape;224;p28"/>
          <p:cNvSpPr txBox="1"/>
          <p:nvPr/>
        </p:nvSpPr>
        <p:spPr>
          <a:xfrm>
            <a:off x="4869310" y="2386584"/>
            <a:ext cx="101501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Baseline, features e ajuste</a:t>
            </a:r>
            <a:endParaRPr sz="1100"/>
          </a:p>
        </p:txBody>
      </p:sp>
      <p:cxnSp>
        <p:nvCxnSpPr>
          <p:cNvPr id="225" name="Google Shape;225;p28"/>
          <p:cNvCxnSpPr/>
          <p:nvPr/>
        </p:nvCxnSpPr>
        <p:spPr>
          <a:xfrm>
            <a:off x="6028342" y="2228850"/>
            <a:ext cx="144023" cy="0"/>
          </a:xfrm>
          <a:prstGeom prst="straightConnector1">
            <a:avLst/>
          </a:prstGeom>
          <a:noFill/>
          <a:ln cap="flat" cmpd="sng" w="1777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6" name="Google Shape;226;p28"/>
          <p:cNvSpPr/>
          <p:nvPr/>
        </p:nvSpPr>
        <p:spPr>
          <a:xfrm rot="5400000">
            <a:off x="6122987" y="2179471"/>
            <a:ext cx="98755" cy="9875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6199797" y="1543050"/>
            <a:ext cx="1268764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6295812" y="1652778"/>
            <a:ext cx="288044" cy="288036"/>
          </a:xfrm>
          <a:prstGeom prst="ellipse">
            <a:avLst/>
          </a:prstGeom>
          <a:solidFill>
            <a:srgbClr val="E160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6330103" y="1687068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230" name="Google Shape;230;p28"/>
          <p:cNvSpPr txBox="1"/>
          <p:nvPr/>
        </p:nvSpPr>
        <p:spPr>
          <a:xfrm>
            <a:off x="6323245" y="2112264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Avaliar</a:t>
            </a:r>
            <a:endParaRPr sz="1100"/>
          </a:p>
        </p:txBody>
      </p:sp>
      <p:sp>
        <p:nvSpPr>
          <p:cNvPr id="231" name="Google Shape;231;p28"/>
          <p:cNvSpPr txBox="1"/>
          <p:nvPr/>
        </p:nvSpPr>
        <p:spPr>
          <a:xfrm>
            <a:off x="6323245" y="2386584"/>
            <a:ext cx="101501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Métricas e análise de erros</a:t>
            </a:r>
            <a:endParaRPr sz="1100"/>
          </a:p>
        </p:txBody>
      </p:sp>
      <p:cxnSp>
        <p:nvCxnSpPr>
          <p:cNvPr id="232" name="Google Shape;232;p28"/>
          <p:cNvCxnSpPr/>
          <p:nvPr/>
        </p:nvCxnSpPr>
        <p:spPr>
          <a:xfrm>
            <a:off x="7482277" y="2228850"/>
            <a:ext cx="144022" cy="0"/>
          </a:xfrm>
          <a:prstGeom prst="straightConnector1">
            <a:avLst/>
          </a:prstGeom>
          <a:noFill/>
          <a:ln cap="flat" cmpd="sng" w="1777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3" name="Google Shape;233;p28"/>
          <p:cNvSpPr/>
          <p:nvPr/>
        </p:nvSpPr>
        <p:spPr>
          <a:xfrm rot="5400000">
            <a:off x="7576922" y="2179471"/>
            <a:ext cx="98755" cy="9875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7653732" y="1543050"/>
            <a:ext cx="1268764" cy="13716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7749747" y="1652778"/>
            <a:ext cx="288044" cy="288036"/>
          </a:xfrm>
          <a:prstGeom prst="ellipse">
            <a:avLst/>
          </a:prstGeom>
          <a:solidFill>
            <a:srgbClr val="2CA8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7784037" y="1687068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237" name="Google Shape;237;p28"/>
          <p:cNvSpPr txBox="1"/>
          <p:nvPr/>
        </p:nvSpPr>
        <p:spPr>
          <a:xfrm>
            <a:off x="7777179" y="2112264"/>
            <a:ext cx="10287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Monitorar</a:t>
            </a:r>
            <a:endParaRPr sz="1100"/>
          </a:p>
        </p:txBody>
      </p:sp>
      <p:sp>
        <p:nvSpPr>
          <p:cNvPr id="238" name="Google Shape;238;p28"/>
          <p:cNvSpPr txBox="1"/>
          <p:nvPr/>
        </p:nvSpPr>
        <p:spPr>
          <a:xfrm>
            <a:off x="7777179" y="2386584"/>
            <a:ext cx="101501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Drift, qualidade e impacto</a:t>
            </a:r>
            <a:endParaRPr sz="1100"/>
          </a:p>
        </p:txBody>
      </p:sp>
      <p:sp>
        <p:nvSpPr>
          <p:cNvPr id="239" name="Google Shape;239;p28"/>
          <p:cNvSpPr/>
          <p:nvPr/>
        </p:nvSpPr>
        <p:spPr>
          <a:xfrm>
            <a:off x="528080" y="3360420"/>
            <a:ext cx="8092656" cy="630936"/>
          </a:xfrm>
          <a:prstGeom prst="roundRect">
            <a:avLst>
              <a:gd fmla="val 12000" name="adj"/>
            </a:avLst>
          </a:prstGeom>
          <a:solidFill>
            <a:srgbClr val="101B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720109" y="3511296"/>
            <a:ext cx="7715456" cy="294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objetivo define a métrica. A métrica orienta o modelo. O monitoramento testa se ele continua útil.</a:t>
            </a:r>
            <a:endParaRPr sz="1100"/>
          </a:p>
        </p:txBody>
      </p:sp>
      <p:cxnSp>
        <p:nvCxnSpPr>
          <p:cNvPr id="241" name="Google Shape;241;p28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2" name="Google Shape;242;p28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243" name="Google Shape;243;p28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Classificação × Regressão × Clusterização</a:t>
            </a:r>
            <a:endParaRPr sz="1100"/>
          </a:p>
        </p:txBody>
      </p:sp>
      <p:sp>
        <p:nvSpPr>
          <p:cNvPr id="250" name="Google Shape;250;p29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Pergunta-chave: existe um rótulo conhecido para cada exemplo?</a:t>
            </a:r>
            <a:endParaRPr sz="1100"/>
          </a:p>
        </p:txBody>
      </p:sp>
      <p:sp>
        <p:nvSpPr>
          <p:cNvPr id="251" name="Google Shape;251;p29"/>
          <p:cNvSpPr/>
          <p:nvPr/>
        </p:nvSpPr>
        <p:spPr>
          <a:xfrm>
            <a:off x="514364" y="1200150"/>
            <a:ext cx="2606109" cy="31203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514364" y="1200150"/>
            <a:ext cx="2606109" cy="82296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651527" y="1405889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 sz="1100"/>
          </a:p>
        </p:txBody>
      </p:sp>
      <p:sp>
        <p:nvSpPr>
          <p:cNvPr id="254" name="Google Shape;254;p29"/>
          <p:cNvSpPr txBox="1"/>
          <p:nvPr/>
        </p:nvSpPr>
        <p:spPr>
          <a:xfrm>
            <a:off x="651527" y="1748790"/>
            <a:ext cx="2331782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6B8A6"/>
                </a:solidFill>
                <a:latin typeface="Arial"/>
                <a:ea typeface="Arial"/>
                <a:cs typeface="Arial"/>
                <a:sym typeface="Arial"/>
              </a:rPr>
              <a:t>Qual categoria?</a:t>
            </a:r>
            <a:endParaRPr sz="1100"/>
          </a:p>
        </p:txBody>
      </p:sp>
      <p:sp>
        <p:nvSpPr>
          <p:cNvPr id="255" name="Google Shape;255;p29"/>
          <p:cNvSpPr txBox="1"/>
          <p:nvPr/>
        </p:nvSpPr>
        <p:spPr>
          <a:xfrm>
            <a:off x="651527" y="2160270"/>
            <a:ext cx="2297491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Spam / não spam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Fraude / legítima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Tipo de defeito</a:t>
            </a:r>
            <a:endParaRPr sz="1100"/>
          </a:p>
        </p:txBody>
      </p:sp>
      <p:cxnSp>
        <p:nvCxnSpPr>
          <p:cNvPr id="256" name="Google Shape;256;p29"/>
          <p:cNvCxnSpPr/>
          <p:nvPr/>
        </p:nvCxnSpPr>
        <p:spPr>
          <a:xfrm>
            <a:off x="651527" y="3223260"/>
            <a:ext cx="2297491" cy="0"/>
          </a:xfrm>
          <a:prstGeom prst="straightConnector1">
            <a:avLst/>
          </a:prstGeom>
          <a:noFill/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7" name="Google Shape;257;p29"/>
          <p:cNvSpPr txBox="1"/>
          <p:nvPr/>
        </p:nvSpPr>
        <p:spPr>
          <a:xfrm>
            <a:off x="651527" y="3394710"/>
            <a:ext cx="2297491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Saída: classe ou probabilidade</a:t>
            </a:r>
            <a:endParaRPr sz="1100"/>
          </a:p>
        </p:txBody>
      </p:sp>
      <p:sp>
        <p:nvSpPr>
          <p:cNvPr id="258" name="Google Shape;258;p29"/>
          <p:cNvSpPr/>
          <p:nvPr/>
        </p:nvSpPr>
        <p:spPr>
          <a:xfrm>
            <a:off x="651527" y="3806190"/>
            <a:ext cx="1063018" cy="198882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678960" y="3816477"/>
            <a:ext cx="10081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6B8A6"/>
                </a:solidFill>
                <a:latin typeface="Arial"/>
                <a:ea typeface="Arial"/>
                <a:cs typeface="Arial"/>
                <a:sym typeface="Arial"/>
              </a:rPr>
              <a:t>Supervisionado</a:t>
            </a:r>
            <a:endParaRPr sz="1100"/>
          </a:p>
        </p:txBody>
      </p:sp>
      <p:sp>
        <p:nvSpPr>
          <p:cNvPr id="260" name="Google Shape;260;p29"/>
          <p:cNvSpPr/>
          <p:nvPr/>
        </p:nvSpPr>
        <p:spPr>
          <a:xfrm>
            <a:off x="3360510" y="1200150"/>
            <a:ext cx="2606109" cy="31203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3360510" y="1200150"/>
            <a:ext cx="2606109" cy="82296"/>
          </a:xfrm>
          <a:prstGeom prst="rect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3497673" y="1405889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REGRESSÃO</a:t>
            </a:r>
            <a:endParaRPr sz="1100"/>
          </a:p>
        </p:txBody>
      </p:sp>
      <p:sp>
        <p:nvSpPr>
          <p:cNvPr id="263" name="Google Shape;263;p29"/>
          <p:cNvSpPr txBox="1"/>
          <p:nvPr/>
        </p:nvSpPr>
        <p:spPr>
          <a:xfrm>
            <a:off x="3497673" y="1748790"/>
            <a:ext cx="2331782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Qual valor?</a:t>
            </a:r>
            <a:endParaRPr sz="1100"/>
          </a:p>
        </p:txBody>
      </p:sp>
      <p:sp>
        <p:nvSpPr>
          <p:cNvPr id="264" name="Google Shape;264;p29"/>
          <p:cNvSpPr txBox="1"/>
          <p:nvPr/>
        </p:nvSpPr>
        <p:spPr>
          <a:xfrm>
            <a:off x="3497673" y="2160270"/>
            <a:ext cx="2297491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Preço de um imóvel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Tempo de entrega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Consumo de energia</a:t>
            </a:r>
            <a:endParaRPr sz="1100"/>
          </a:p>
        </p:txBody>
      </p:sp>
      <p:cxnSp>
        <p:nvCxnSpPr>
          <p:cNvPr id="265" name="Google Shape;265;p29"/>
          <p:cNvCxnSpPr/>
          <p:nvPr/>
        </p:nvCxnSpPr>
        <p:spPr>
          <a:xfrm>
            <a:off x="3497673" y="3223260"/>
            <a:ext cx="2297490" cy="0"/>
          </a:xfrm>
          <a:prstGeom prst="straightConnector1">
            <a:avLst/>
          </a:prstGeom>
          <a:noFill/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6" name="Google Shape;266;p29"/>
          <p:cNvSpPr txBox="1"/>
          <p:nvPr/>
        </p:nvSpPr>
        <p:spPr>
          <a:xfrm>
            <a:off x="3497673" y="3394710"/>
            <a:ext cx="2297491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Saída: número contínuo</a:t>
            </a:r>
            <a:endParaRPr sz="1100"/>
          </a:p>
        </p:txBody>
      </p:sp>
      <p:sp>
        <p:nvSpPr>
          <p:cNvPr id="267" name="Google Shape;267;p29"/>
          <p:cNvSpPr/>
          <p:nvPr/>
        </p:nvSpPr>
        <p:spPr>
          <a:xfrm>
            <a:off x="3497673" y="3806190"/>
            <a:ext cx="1063018" cy="198882"/>
          </a:xfrm>
          <a:prstGeom prst="roundRect">
            <a:avLst>
              <a:gd fmla="val 12000" name="adj"/>
            </a:avLst>
          </a:prstGeom>
          <a:solidFill>
            <a:srgbClr val="EAF1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3525106" y="3816477"/>
            <a:ext cx="10081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Supervisionado</a:t>
            </a:r>
            <a:endParaRPr sz="1100"/>
          </a:p>
        </p:txBody>
      </p:sp>
      <p:sp>
        <p:nvSpPr>
          <p:cNvPr id="269" name="Google Shape;269;p29"/>
          <p:cNvSpPr/>
          <p:nvPr/>
        </p:nvSpPr>
        <p:spPr>
          <a:xfrm>
            <a:off x="6206655" y="1200150"/>
            <a:ext cx="2606109" cy="31203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6206655" y="1200150"/>
            <a:ext cx="2606109" cy="82296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6343819" y="1405889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CLUSTERIZAÇÃO</a:t>
            </a:r>
            <a:endParaRPr sz="1100"/>
          </a:p>
        </p:txBody>
      </p:sp>
      <p:sp>
        <p:nvSpPr>
          <p:cNvPr id="272" name="Google Shape;272;p29"/>
          <p:cNvSpPr txBox="1"/>
          <p:nvPr/>
        </p:nvSpPr>
        <p:spPr>
          <a:xfrm>
            <a:off x="6343819" y="1748790"/>
            <a:ext cx="2331782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5A742"/>
                </a:solidFill>
                <a:latin typeface="Arial"/>
                <a:ea typeface="Arial"/>
                <a:cs typeface="Arial"/>
                <a:sym typeface="Arial"/>
              </a:rPr>
              <a:t>Quais se parecem?</a:t>
            </a:r>
            <a:endParaRPr sz="1100"/>
          </a:p>
        </p:txBody>
      </p:sp>
      <p:sp>
        <p:nvSpPr>
          <p:cNvPr id="273" name="Google Shape;273;p29"/>
          <p:cNvSpPr txBox="1"/>
          <p:nvPr/>
        </p:nvSpPr>
        <p:spPr>
          <a:xfrm>
            <a:off x="6343819" y="2160270"/>
            <a:ext cx="2297491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Segmentos de clientes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Perfis de uso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Agrupamento exploratório</a:t>
            </a:r>
            <a:endParaRPr sz="1100"/>
          </a:p>
        </p:txBody>
      </p:sp>
      <p:cxnSp>
        <p:nvCxnSpPr>
          <p:cNvPr id="274" name="Google Shape;274;p29"/>
          <p:cNvCxnSpPr/>
          <p:nvPr/>
        </p:nvCxnSpPr>
        <p:spPr>
          <a:xfrm>
            <a:off x="6343819" y="3223260"/>
            <a:ext cx="2297491" cy="0"/>
          </a:xfrm>
          <a:prstGeom prst="straightConnector1">
            <a:avLst/>
          </a:prstGeom>
          <a:noFill/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5" name="Google Shape;275;p29"/>
          <p:cNvSpPr txBox="1"/>
          <p:nvPr/>
        </p:nvSpPr>
        <p:spPr>
          <a:xfrm>
            <a:off x="6343819" y="3394710"/>
            <a:ext cx="2297491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Saída: grupo descoberto</a:t>
            </a:r>
            <a:endParaRPr sz="1100"/>
          </a:p>
        </p:txBody>
      </p:sp>
      <p:sp>
        <p:nvSpPr>
          <p:cNvPr id="276" name="Google Shape;276;p29"/>
          <p:cNvSpPr/>
          <p:nvPr/>
        </p:nvSpPr>
        <p:spPr>
          <a:xfrm>
            <a:off x="6343819" y="3806190"/>
            <a:ext cx="1063018" cy="198882"/>
          </a:xfrm>
          <a:prstGeom prst="roundRect">
            <a:avLst>
              <a:gd fmla="val 12000" name="adj"/>
            </a:avLst>
          </a:prstGeom>
          <a:solidFill>
            <a:srgbClr val="FFF3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6371252" y="3816477"/>
            <a:ext cx="10081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5A742"/>
                </a:solidFill>
                <a:latin typeface="Arial"/>
                <a:ea typeface="Arial"/>
                <a:cs typeface="Arial"/>
                <a:sym typeface="Arial"/>
              </a:rPr>
              <a:t>Não supervisionado</a:t>
            </a:r>
            <a:endParaRPr sz="1100"/>
          </a:p>
        </p:txBody>
      </p:sp>
      <p:cxnSp>
        <p:nvCxnSpPr>
          <p:cNvPr id="278" name="Google Shape;278;p29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p29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280" name="Google Shape;280;p29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Como identificar o tipo de problema?</a:t>
            </a:r>
            <a:endParaRPr sz="1100"/>
          </a:p>
        </p:txBody>
      </p:sp>
      <p:sp>
        <p:nvSpPr>
          <p:cNvPr id="287" name="Google Shape;287;p30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Leia a saída desejada — ela normalmente determina o tipo de tarefa.</a:t>
            </a:r>
            <a:endParaRPr sz="1100"/>
          </a:p>
        </p:txBody>
      </p:sp>
      <p:sp>
        <p:nvSpPr>
          <p:cNvPr id="288" name="Google Shape;288;p30"/>
          <p:cNvSpPr/>
          <p:nvPr/>
        </p:nvSpPr>
        <p:spPr>
          <a:xfrm>
            <a:off x="562371" y="1110996"/>
            <a:ext cx="8058365" cy="76809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692676" y="1344168"/>
            <a:ext cx="288044" cy="28803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 txBox="1"/>
          <p:nvPr/>
        </p:nvSpPr>
        <p:spPr>
          <a:xfrm>
            <a:off x="713251" y="1378458"/>
            <a:ext cx="24689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291" name="Google Shape;291;p30"/>
          <p:cNvSpPr txBox="1"/>
          <p:nvPr/>
        </p:nvSpPr>
        <p:spPr>
          <a:xfrm>
            <a:off x="1111026" y="1234440"/>
            <a:ext cx="3909164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“Esse arquivo é malware?”</a:t>
            </a:r>
            <a:endParaRPr sz="1100"/>
          </a:p>
        </p:txBody>
      </p:sp>
      <p:sp>
        <p:nvSpPr>
          <p:cNvPr id="292" name="Google Shape;292;p30"/>
          <p:cNvSpPr/>
          <p:nvPr/>
        </p:nvSpPr>
        <p:spPr>
          <a:xfrm>
            <a:off x="5143637" y="1234440"/>
            <a:ext cx="1611673" cy="198882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5171070" y="1244727"/>
            <a:ext cx="15568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6B8A6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 sz="1100"/>
          </a:p>
        </p:txBody>
      </p:sp>
      <p:sp>
        <p:nvSpPr>
          <p:cNvPr id="294" name="Google Shape;294;p30"/>
          <p:cNvSpPr txBox="1"/>
          <p:nvPr/>
        </p:nvSpPr>
        <p:spPr>
          <a:xfrm>
            <a:off x="5177928" y="1543050"/>
            <a:ext cx="31547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Saída: rótulo / probabilidade</a:t>
            </a:r>
            <a:endParaRPr sz="1100"/>
          </a:p>
        </p:txBody>
      </p:sp>
      <p:sp>
        <p:nvSpPr>
          <p:cNvPr id="295" name="Google Shape;295;p30"/>
          <p:cNvSpPr/>
          <p:nvPr/>
        </p:nvSpPr>
        <p:spPr>
          <a:xfrm>
            <a:off x="562371" y="2105406"/>
            <a:ext cx="8058365" cy="76809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692676" y="2338578"/>
            <a:ext cx="288044" cy="288036"/>
          </a:xfrm>
          <a:prstGeom prst="ellipse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713251" y="2372868"/>
            <a:ext cx="24689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98" name="Google Shape;298;p30"/>
          <p:cNvSpPr txBox="1"/>
          <p:nvPr/>
        </p:nvSpPr>
        <p:spPr>
          <a:xfrm>
            <a:off x="1111026" y="2228850"/>
            <a:ext cx="3909164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“Qual será o preço?”</a:t>
            </a:r>
            <a:endParaRPr sz="1100"/>
          </a:p>
        </p:txBody>
      </p:sp>
      <p:sp>
        <p:nvSpPr>
          <p:cNvPr id="299" name="Google Shape;299;p30"/>
          <p:cNvSpPr/>
          <p:nvPr/>
        </p:nvSpPr>
        <p:spPr>
          <a:xfrm>
            <a:off x="5143637" y="2228850"/>
            <a:ext cx="1611673" cy="198882"/>
          </a:xfrm>
          <a:prstGeom prst="roundRect">
            <a:avLst>
              <a:gd fmla="val 12000" name="adj"/>
            </a:avLst>
          </a:prstGeom>
          <a:solidFill>
            <a:srgbClr val="EAF1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5171070" y="2239137"/>
            <a:ext cx="15568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REGRESSÃO</a:t>
            </a:r>
            <a:endParaRPr sz="1100"/>
          </a:p>
        </p:txBody>
      </p:sp>
      <p:sp>
        <p:nvSpPr>
          <p:cNvPr id="301" name="Google Shape;301;p30"/>
          <p:cNvSpPr txBox="1"/>
          <p:nvPr/>
        </p:nvSpPr>
        <p:spPr>
          <a:xfrm>
            <a:off x="5177928" y="2537460"/>
            <a:ext cx="31547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Saída: valor numérico</a:t>
            </a:r>
            <a:endParaRPr sz="1100"/>
          </a:p>
        </p:txBody>
      </p:sp>
      <p:sp>
        <p:nvSpPr>
          <p:cNvPr id="302" name="Google Shape;302;p30"/>
          <p:cNvSpPr/>
          <p:nvPr/>
        </p:nvSpPr>
        <p:spPr>
          <a:xfrm>
            <a:off x="562371" y="3099815"/>
            <a:ext cx="8058365" cy="76809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692676" y="3332987"/>
            <a:ext cx="288044" cy="288036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713251" y="3367277"/>
            <a:ext cx="24689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305" name="Google Shape;305;p30"/>
          <p:cNvSpPr txBox="1"/>
          <p:nvPr/>
        </p:nvSpPr>
        <p:spPr>
          <a:xfrm>
            <a:off x="1111026" y="3223259"/>
            <a:ext cx="3909164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“Quais clientes têm perfis semelhantes?”</a:t>
            </a:r>
            <a:endParaRPr sz="1100"/>
          </a:p>
        </p:txBody>
      </p:sp>
      <p:sp>
        <p:nvSpPr>
          <p:cNvPr id="306" name="Google Shape;306;p30"/>
          <p:cNvSpPr/>
          <p:nvPr/>
        </p:nvSpPr>
        <p:spPr>
          <a:xfrm>
            <a:off x="5143637" y="3223259"/>
            <a:ext cx="1611673" cy="198882"/>
          </a:xfrm>
          <a:prstGeom prst="roundRect">
            <a:avLst>
              <a:gd fmla="val 12000" name="adj"/>
            </a:avLst>
          </a:prstGeom>
          <a:solidFill>
            <a:srgbClr val="FFF3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0"/>
          <p:cNvSpPr txBox="1"/>
          <p:nvPr/>
        </p:nvSpPr>
        <p:spPr>
          <a:xfrm>
            <a:off x="5171070" y="3233546"/>
            <a:ext cx="15568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5A742"/>
                </a:solidFill>
                <a:latin typeface="Arial"/>
                <a:ea typeface="Arial"/>
                <a:cs typeface="Arial"/>
                <a:sym typeface="Arial"/>
              </a:rPr>
              <a:t>CLUSTERIZAÇÃO</a:t>
            </a:r>
            <a:endParaRPr sz="1100"/>
          </a:p>
        </p:txBody>
      </p:sp>
      <p:sp>
        <p:nvSpPr>
          <p:cNvPr id="308" name="Google Shape;308;p30"/>
          <p:cNvSpPr txBox="1"/>
          <p:nvPr/>
        </p:nvSpPr>
        <p:spPr>
          <a:xfrm>
            <a:off x="5177928" y="3531869"/>
            <a:ext cx="31547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Saída: grupos sem rótulos prévios</a:t>
            </a:r>
            <a:endParaRPr sz="1100"/>
          </a:p>
        </p:txBody>
      </p:sp>
      <p:sp>
        <p:nvSpPr>
          <p:cNvPr id="309" name="Google Shape;309;p30"/>
          <p:cNvSpPr/>
          <p:nvPr/>
        </p:nvSpPr>
        <p:spPr>
          <a:xfrm>
            <a:off x="582946" y="4217670"/>
            <a:ext cx="8024074" cy="301752"/>
          </a:xfrm>
          <a:prstGeom prst="roundRect">
            <a:avLst>
              <a:gd fmla="val 12000" name="adj"/>
            </a:avLst>
          </a:prstGeom>
          <a:solidFill>
            <a:srgbClr val="101B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685818" y="4265676"/>
            <a:ext cx="78183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Dica: se a tarefa pergunta “qual rótulo?”, “quanto?” ou “quais grupos?”, o caminho fica claro.</a:t>
            </a:r>
            <a:endParaRPr sz="1100"/>
          </a:p>
        </p:txBody>
      </p:sp>
      <p:cxnSp>
        <p:nvCxnSpPr>
          <p:cNvPr id="311" name="Google Shape;311;p30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2" name="Google Shape;312;p30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313" name="Google Shape;313;p30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Classificação: o limiar muda a decisão</a:t>
            </a:r>
            <a:endParaRPr sz="1100"/>
          </a:p>
        </p:txBody>
      </p:sp>
      <p:sp>
        <p:nvSpPr>
          <p:cNvPr id="320" name="Google Shape;320;p31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 modelo pode produzir uma probabilidade; o limiar transforma score em classe prevista.</a:t>
            </a:r>
            <a:endParaRPr sz="1100"/>
          </a:p>
        </p:txBody>
      </p:sp>
      <p:sp>
        <p:nvSpPr>
          <p:cNvPr id="321" name="Google Shape;321;p31"/>
          <p:cNvSpPr/>
          <p:nvPr/>
        </p:nvSpPr>
        <p:spPr>
          <a:xfrm>
            <a:off x="534938" y="1110996"/>
            <a:ext cx="3634837" cy="318897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699535" y="1289304"/>
            <a:ext cx="3291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Matriz de confusão</a:t>
            </a:r>
            <a:endParaRPr sz="1100"/>
          </a:p>
        </p:txBody>
      </p:sp>
      <p:sp>
        <p:nvSpPr>
          <p:cNvPr id="323" name="Google Shape;323;p31"/>
          <p:cNvSpPr txBox="1"/>
          <p:nvPr/>
        </p:nvSpPr>
        <p:spPr>
          <a:xfrm>
            <a:off x="788691" y="1659636"/>
            <a:ext cx="1028727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1906575" y="1611630"/>
            <a:ext cx="857273" cy="198882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1934008" y="1621917"/>
            <a:ext cx="8024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87F79"/>
                </a:solidFill>
                <a:latin typeface="Arial"/>
                <a:ea typeface="Arial"/>
                <a:cs typeface="Arial"/>
                <a:sym typeface="Arial"/>
              </a:rPr>
              <a:t>Prevê +</a:t>
            </a:r>
            <a:endParaRPr sz="1100"/>
          </a:p>
        </p:txBody>
      </p:sp>
      <p:sp>
        <p:nvSpPr>
          <p:cNvPr id="326" name="Google Shape;326;p31"/>
          <p:cNvSpPr/>
          <p:nvPr/>
        </p:nvSpPr>
        <p:spPr>
          <a:xfrm>
            <a:off x="2853004" y="1611630"/>
            <a:ext cx="857273" cy="198882"/>
          </a:xfrm>
          <a:prstGeom prst="roundRect">
            <a:avLst>
              <a:gd fmla="val 12000" name="adj"/>
            </a:avLst>
          </a:prstGeom>
          <a:solidFill>
            <a:srgbClr val="EAF1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2880437" y="1621917"/>
            <a:ext cx="8024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Prevê −</a:t>
            </a:r>
            <a:endParaRPr sz="1100"/>
          </a:p>
        </p:txBody>
      </p:sp>
      <p:sp>
        <p:nvSpPr>
          <p:cNvPr id="328" name="Google Shape;328;p31"/>
          <p:cNvSpPr txBox="1"/>
          <p:nvPr/>
        </p:nvSpPr>
        <p:spPr>
          <a:xfrm>
            <a:off x="740684" y="2077974"/>
            <a:ext cx="10630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Real +</a:t>
            </a:r>
            <a:endParaRPr sz="1100"/>
          </a:p>
        </p:txBody>
      </p:sp>
      <p:sp>
        <p:nvSpPr>
          <p:cNvPr id="329" name="Google Shape;329;p31"/>
          <p:cNvSpPr txBox="1"/>
          <p:nvPr/>
        </p:nvSpPr>
        <p:spPr>
          <a:xfrm>
            <a:off x="740684" y="2894076"/>
            <a:ext cx="10630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Real −</a:t>
            </a:r>
            <a:endParaRPr sz="1100"/>
          </a:p>
        </p:txBody>
      </p:sp>
      <p:sp>
        <p:nvSpPr>
          <p:cNvPr id="330" name="Google Shape;330;p31"/>
          <p:cNvSpPr/>
          <p:nvPr/>
        </p:nvSpPr>
        <p:spPr>
          <a:xfrm>
            <a:off x="1865426" y="1975104"/>
            <a:ext cx="946429" cy="672084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 cap="flat" cmpd="sng" w="101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1940866" y="2112264"/>
            <a:ext cx="80926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87F79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87F79"/>
                </a:solidFill>
                <a:latin typeface="Arial"/>
                <a:ea typeface="Arial"/>
                <a:cs typeface="Arial"/>
                <a:sym typeface="Arial"/>
              </a:rPr>
              <a:t>Acerto +</a:t>
            </a:r>
            <a:endParaRPr sz="1100"/>
          </a:p>
        </p:txBody>
      </p:sp>
      <p:sp>
        <p:nvSpPr>
          <p:cNvPr id="332" name="Google Shape;332;p31"/>
          <p:cNvSpPr/>
          <p:nvPr/>
        </p:nvSpPr>
        <p:spPr>
          <a:xfrm>
            <a:off x="2839287" y="1975104"/>
            <a:ext cx="946429" cy="672084"/>
          </a:xfrm>
          <a:prstGeom prst="roundRect">
            <a:avLst>
              <a:gd fmla="val 12000" name="adj"/>
            </a:avLst>
          </a:prstGeom>
          <a:solidFill>
            <a:srgbClr val="FCEBED"/>
          </a:solidFill>
          <a:ln cap="flat" cmpd="sng" w="10150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2914728" y="2112264"/>
            <a:ext cx="80926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E16071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E16071"/>
                </a:solidFill>
                <a:latin typeface="Arial"/>
                <a:ea typeface="Arial"/>
                <a:cs typeface="Arial"/>
                <a:sym typeface="Arial"/>
              </a:rPr>
              <a:t>Falso −</a:t>
            </a:r>
            <a:endParaRPr sz="1100"/>
          </a:p>
        </p:txBody>
      </p:sp>
      <p:sp>
        <p:nvSpPr>
          <p:cNvPr id="334" name="Google Shape;334;p31"/>
          <p:cNvSpPr/>
          <p:nvPr/>
        </p:nvSpPr>
        <p:spPr>
          <a:xfrm>
            <a:off x="1865426" y="2784347"/>
            <a:ext cx="946429" cy="672084"/>
          </a:xfrm>
          <a:prstGeom prst="roundRect">
            <a:avLst>
              <a:gd fmla="val 12000" name="adj"/>
            </a:avLst>
          </a:prstGeom>
          <a:solidFill>
            <a:srgbClr val="FFF3DF"/>
          </a:solidFill>
          <a:ln cap="flat" cmpd="sng" w="10150">
            <a:solidFill>
              <a:srgbClr val="F5A7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1940866" y="2921508"/>
            <a:ext cx="80926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A9680A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A9680A"/>
                </a:solidFill>
                <a:latin typeface="Arial"/>
                <a:ea typeface="Arial"/>
                <a:cs typeface="Arial"/>
                <a:sym typeface="Arial"/>
              </a:rPr>
              <a:t>Falso +</a:t>
            </a:r>
            <a:endParaRPr sz="1100"/>
          </a:p>
        </p:txBody>
      </p:sp>
      <p:sp>
        <p:nvSpPr>
          <p:cNvPr id="336" name="Google Shape;336;p31"/>
          <p:cNvSpPr/>
          <p:nvPr/>
        </p:nvSpPr>
        <p:spPr>
          <a:xfrm>
            <a:off x="2839287" y="2784347"/>
            <a:ext cx="946429" cy="672084"/>
          </a:xfrm>
          <a:prstGeom prst="roundRect">
            <a:avLst>
              <a:gd fmla="val 12000" name="adj"/>
            </a:avLst>
          </a:prstGeom>
          <a:solidFill>
            <a:srgbClr val="EAF1FA"/>
          </a:solidFill>
          <a:ln cap="flat" cmpd="sng" w="10150">
            <a:solidFill>
              <a:srgbClr val="315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2914728" y="2921508"/>
            <a:ext cx="80926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TN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Acerto −</a:t>
            </a:r>
            <a:endParaRPr sz="1100"/>
          </a:p>
        </p:txBody>
      </p:sp>
      <p:sp>
        <p:nvSpPr>
          <p:cNvPr id="338" name="Google Shape;338;p31"/>
          <p:cNvSpPr txBox="1"/>
          <p:nvPr/>
        </p:nvSpPr>
        <p:spPr>
          <a:xfrm>
            <a:off x="720109" y="3785616"/>
            <a:ext cx="31890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 segurança, falso negativo e falso positivo podem ter custos muito diferentes.</a:t>
            </a:r>
            <a:endParaRPr sz="1100"/>
          </a:p>
        </p:txBody>
      </p:sp>
      <p:sp>
        <p:nvSpPr>
          <p:cNvPr id="339" name="Google Shape;339;p31"/>
          <p:cNvSpPr/>
          <p:nvPr/>
        </p:nvSpPr>
        <p:spPr>
          <a:xfrm>
            <a:off x="4402953" y="1110996"/>
            <a:ext cx="1886000" cy="92583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4402953" y="1110996"/>
            <a:ext cx="48007" cy="92583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4526401" y="1200150"/>
            <a:ext cx="166653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Precisão</a:t>
            </a:r>
            <a:endParaRPr sz="1100"/>
          </a:p>
        </p:txBody>
      </p:sp>
      <p:sp>
        <p:nvSpPr>
          <p:cNvPr id="342" name="Google Shape;342;p31"/>
          <p:cNvSpPr txBox="1"/>
          <p:nvPr/>
        </p:nvSpPr>
        <p:spPr>
          <a:xfrm>
            <a:off x="4526401" y="1467612"/>
            <a:ext cx="1666538" cy="50063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Dos previstos positivos, quantos são positivos de fato?</a:t>
            </a:r>
            <a:endParaRPr sz="1100"/>
          </a:p>
        </p:txBody>
      </p:sp>
      <p:sp>
        <p:nvSpPr>
          <p:cNvPr id="343" name="Google Shape;343;p31"/>
          <p:cNvSpPr/>
          <p:nvPr/>
        </p:nvSpPr>
        <p:spPr>
          <a:xfrm>
            <a:off x="6460408" y="1110996"/>
            <a:ext cx="1886000" cy="92583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6460408" y="1110996"/>
            <a:ext cx="48007" cy="92583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6583856" y="1200150"/>
            <a:ext cx="166653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Recall / Sensibilidade</a:t>
            </a:r>
            <a:endParaRPr sz="1100"/>
          </a:p>
        </p:txBody>
      </p:sp>
      <p:sp>
        <p:nvSpPr>
          <p:cNvPr id="346" name="Google Shape;346;p31"/>
          <p:cNvSpPr txBox="1"/>
          <p:nvPr/>
        </p:nvSpPr>
        <p:spPr>
          <a:xfrm>
            <a:off x="6583856" y="1467612"/>
            <a:ext cx="1666538" cy="50063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Dos positivos reais, quantos foram encontrados?</a:t>
            </a:r>
            <a:endParaRPr sz="1100"/>
          </a:p>
        </p:txBody>
      </p:sp>
      <p:sp>
        <p:nvSpPr>
          <p:cNvPr id="347" name="Google Shape;347;p31"/>
          <p:cNvSpPr/>
          <p:nvPr/>
        </p:nvSpPr>
        <p:spPr>
          <a:xfrm>
            <a:off x="4402953" y="2180844"/>
            <a:ext cx="3943455" cy="87782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4402953" y="2180844"/>
            <a:ext cx="48007" cy="877824"/>
          </a:xfrm>
          <a:prstGeom prst="rect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4526401" y="2269998"/>
            <a:ext cx="372399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1100"/>
          </a:p>
        </p:txBody>
      </p:sp>
      <p:sp>
        <p:nvSpPr>
          <p:cNvPr id="350" name="Google Shape;350;p31"/>
          <p:cNvSpPr txBox="1"/>
          <p:nvPr/>
        </p:nvSpPr>
        <p:spPr>
          <a:xfrm>
            <a:off x="4526401" y="2537460"/>
            <a:ext cx="3723993" cy="45262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Média harmônica entre precisão e recall; útil para resumir um equilíbrio.</a:t>
            </a:r>
            <a:endParaRPr sz="1100"/>
          </a:p>
        </p:txBody>
      </p:sp>
      <p:sp>
        <p:nvSpPr>
          <p:cNvPr id="351" name="Google Shape;351;p31"/>
          <p:cNvSpPr/>
          <p:nvPr/>
        </p:nvSpPr>
        <p:spPr>
          <a:xfrm>
            <a:off x="4402953" y="3223260"/>
            <a:ext cx="3943455" cy="857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4402953" y="3223260"/>
            <a:ext cx="48007" cy="857250"/>
          </a:xfrm>
          <a:prstGeom prst="rect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4526401" y="3312414"/>
            <a:ext cx="372399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Limiar de decisão</a:t>
            </a:r>
            <a:endParaRPr sz="1100"/>
          </a:p>
        </p:txBody>
      </p:sp>
      <p:sp>
        <p:nvSpPr>
          <p:cNvPr id="354" name="Google Shape;354;p31"/>
          <p:cNvSpPr txBox="1"/>
          <p:nvPr/>
        </p:nvSpPr>
        <p:spPr>
          <a:xfrm>
            <a:off x="4526401" y="3579876"/>
            <a:ext cx="3723993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Diminuir o limiar geralmente aumenta recall e também pode aumentar falsos positivos.</a:t>
            </a:r>
            <a:endParaRPr sz="1100"/>
          </a:p>
        </p:txBody>
      </p:sp>
      <p:cxnSp>
        <p:nvCxnSpPr>
          <p:cNvPr id="355" name="Google Shape;355;p31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6" name="Google Shape;356;p31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357" name="Google Shape;357;p31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Regressão: prever números e medir o erro</a:t>
            </a:r>
            <a:endParaRPr sz="1100"/>
          </a:p>
        </p:txBody>
      </p:sp>
      <p:sp>
        <p:nvSpPr>
          <p:cNvPr id="364" name="Google Shape;364;p32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Uma previsão nunca é apenas “certa ou errada”: importa o tamanho do desvio e o custo dele.</a:t>
            </a:r>
            <a:endParaRPr sz="1100"/>
          </a:p>
        </p:txBody>
      </p:sp>
      <p:sp>
        <p:nvSpPr>
          <p:cNvPr id="365" name="Google Shape;365;p32"/>
          <p:cNvSpPr/>
          <p:nvPr/>
        </p:nvSpPr>
        <p:spPr>
          <a:xfrm>
            <a:off x="548655" y="1138428"/>
            <a:ext cx="3634837" cy="31203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720109" y="1289304"/>
            <a:ext cx="32919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Observado × previsto</a:t>
            </a:r>
            <a:endParaRPr sz="1100"/>
          </a:p>
        </p:txBody>
      </p:sp>
      <p:cxnSp>
        <p:nvCxnSpPr>
          <p:cNvPr id="367" name="Google Shape;367;p32"/>
          <p:cNvCxnSpPr/>
          <p:nvPr/>
        </p:nvCxnSpPr>
        <p:spPr>
          <a:xfrm>
            <a:off x="925855" y="3737610"/>
            <a:ext cx="2949019" cy="0"/>
          </a:xfrm>
          <a:prstGeom prst="straightConnector1">
            <a:avLst/>
          </a:prstGeom>
          <a:noFill/>
          <a:ln cap="flat" cmpd="sng" w="16500">
            <a:solidFill>
              <a:srgbClr val="9AA8B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8" name="Google Shape;368;p32"/>
          <p:cNvCxnSpPr/>
          <p:nvPr/>
        </p:nvCxnSpPr>
        <p:spPr>
          <a:xfrm rot="10800000">
            <a:off x="925855" y="1748790"/>
            <a:ext cx="0" cy="1988820"/>
          </a:xfrm>
          <a:prstGeom prst="straightConnector1">
            <a:avLst/>
          </a:prstGeom>
          <a:noFill/>
          <a:ln cap="flat" cmpd="sng" w="16500">
            <a:solidFill>
              <a:srgbClr val="9AA8B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9" name="Google Shape;369;p32"/>
          <p:cNvCxnSpPr/>
          <p:nvPr/>
        </p:nvCxnSpPr>
        <p:spPr>
          <a:xfrm flipH="1" rot="10800000">
            <a:off x="1042444" y="3538728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0" name="Google Shape;370;p32"/>
          <p:cNvCxnSpPr/>
          <p:nvPr/>
        </p:nvCxnSpPr>
        <p:spPr>
          <a:xfrm flipH="1" rot="10800000">
            <a:off x="1309913" y="3377565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1" name="Google Shape;371;p32"/>
          <p:cNvCxnSpPr/>
          <p:nvPr/>
        </p:nvCxnSpPr>
        <p:spPr>
          <a:xfrm flipH="1" rot="10800000">
            <a:off x="1577382" y="3216402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2" name="Google Shape;372;p32"/>
          <p:cNvCxnSpPr/>
          <p:nvPr/>
        </p:nvCxnSpPr>
        <p:spPr>
          <a:xfrm flipH="1" rot="10800000">
            <a:off x="1844851" y="3055239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3" name="Google Shape;373;p32"/>
          <p:cNvCxnSpPr/>
          <p:nvPr/>
        </p:nvCxnSpPr>
        <p:spPr>
          <a:xfrm flipH="1" rot="10800000">
            <a:off x="2112320" y="2894076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4" name="Google Shape;374;p32"/>
          <p:cNvCxnSpPr/>
          <p:nvPr/>
        </p:nvCxnSpPr>
        <p:spPr>
          <a:xfrm flipH="1" rot="10800000">
            <a:off x="2379789" y="2732913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5" name="Google Shape;375;p32"/>
          <p:cNvCxnSpPr/>
          <p:nvPr/>
        </p:nvCxnSpPr>
        <p:spPr>
          <a:xfrm flipH="1" rot="10800000">
            <a:off x="2647259" y="2571750"/>
            <a:ext cx="137163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6" name="Google Shape;376;p32"/>
          <p:cNvCxnSpPr/>
          <p:nvPr/>
        </p:nvCxnSpPr>
        <p:spPr>
          <a:xfrm flipH="1" rot="10800000">
            <a:off x="2914728" y="2410587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7" name="Google Shape;377;p32"/>
          <p:cNvCxnSpPr/>
          <p:nvPr/>
        </p:nvCxnSpPr>
        <p:spPr>
          <a:xfrm flipH="1" rot="10800000">
            <a:off x="3182197" y="2249424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8" name="Google Shape;378;p32"/>
          <p:cNvCxnSpPr/>
          <p:nvPr/>
        </p:nvCxnSpPr>
        <p:spPr>
          <a:xfrm flipH="1" rot="10800000">
            <a:off x="3449666" y="2088261"/>
            <a:ext cx="137164" cy="82296"/>
          </a:xfrm>
          <a:prstGeom prst="straightConnector1">
            <a:avLst/>
          </a:prstGeom>
          <a:noFill/>
          <a:ln cap="flat" cmpd="sng" w="13950">
            <a:solidFill>
              <a:srgbClr val="A8B5C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32"/>
          <p:cNvSpPr/>
          <p:nvPr/>
        </p:nvSpPr>
        <p:spPr>
          <a:xfrm>
            <a:off x="1159033" y="3415284"/>
            <a:ext cx="82298" cy="8229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1570524" y="3134106"/>
            <a:ext cx="82298" cy="8229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2"/>
          <p:cNvSpPr/>
          <p:nvPr/>
        </p:nvSpPr>
        <p:spPr>
          <a:xfrm>
            <a:off x="1982015" y="3230118"/>
            <a:ext cx="82298" cy="8229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2324924" y="2798064"/>
            <a:ext cx="82298" cy="8229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2756989" y="2873502"/>
            <a:ext cx="82298" cy="8229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3154764" y="2256282"/>
            <a:ext cx="82298" cy="8229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3490815" y="2359152"/>
            <a:ext cx="82298" cy="8229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754400" y="3874770"/>
            <a:ext cx="3291928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Desvio vertical = resíduo (erro)</a:t>
            </a:r>
            <a:endParaRPr sz="1100"/>
          </a:p>
        </p:txBody>
      </p:sp>
      <p:sp>
        <p:nvSpPr>
          <p:cNvPr id="387" name="Google Shape;387;p32"/>
          <p:cNvSpPr/>
          <p:nvPr/>
        </p:nvSpPr>
        <p:spPr>
          <a:xfrm>
            <a:off x="4402953" y="1138428"/>
            <a:ext cx="1920291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4402953" y="1138428"/>
            <a:ext cx="48007" cy="96012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 txBox="1"/>
          <p:nvPr/>
        </p:nvSpPr>
        <p:spPr>
          <a:xfrm>
            <a:off x="4526401" y="1227582"/>
            <a:ext cx="170082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100"/>
          </a:p>
        </p:txBody>
      </p:sp>
      <p:sp>
        <p:nvSpPr>
          <p:cNvPr id="390" name="Google Shape;390;p32"/>
          <p:cNvSpPr txBox="1"/>
          <p:nvPr/>
        </p:nvSpPr>
        <p:spPr>
          <a:xfrm>
            <a:off x="4526401" y="1495043"/>
            <a:ext cx="1700829" cy="534923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Erro absoluto médio. Fácil de interpretar na unidade original.</a:t>
            </a:r>
            <a:endParaRPr sz="1100"/>
          </a:p>
        </p:txBody>
      </p:sp>
      <p:sp>
        <p:nvSpPr>
          <p:cNvPr id="391" name="Google Shape;391;p32"/>
          <p:cNvSpPr/>
          <p:nvPr/>
        </p:nvSpPr>
        <p:spPr>
          <a:xfrm>
            <a:off x="6515274" y="1138428"/>
            <a:ext cx="1920291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6515274" y="1138428"/>
            <a:ext cx="48007" cy="96012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 txBox="1"/>
          <p:nvPr/>
        </p:nvSpPr>
        <p:spPr>
          <a:xfrm>
            <a:off x="6638721" y="1227582"/>
            <a:ext cx="170082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sz="1100"/>
          </a:p>
        </p:txBody>
      </p:sp>
      <p:sp>
        <p:nvSpPr>
          <p:cNvPr id="394" name="Google Shape;394;p32"/>
          <p:cNvSpPr txBox="1"/>
          <p:nvPr/>
        </p:nvSpPr>
        <p:spPr>
          <a:xfrm>
            <a:off x="6638721" y="1495043"/>
            <a:ext cx="1700829" cy="534923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Penaliza mais erros grandes por elevar os resíduos ao quadrado.</a:t>
            </a:r>
            <a:endParaRPr sz="1100"/>
          </a:p>
        </p:txBody>
      </p:sp>
      <p:sp>
        <p:nvSpPr>
          <p:cNvPr id="395" name="Google Shape;395;p32"/>
          <p:cNvSpPr/>
          <p:nvPr/>
        </p:nvSpPr>
        <p:spPr>
          <a:xfrm>
            <a:off x="4402953" y="2263140"/>
            <a:ext cx="4032611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4402953" y="2263140"/>
            <a:ext cx="48007" cy="960120"/>
          </a:xfrm>
          <a:prstGeom prst="rect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4526401" y="2352293"/>
            <a:ext cx="38131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sz="1100"/>
          </a:p>
        </p:txBody>
      </p:sp>
      <p:sp>
        <p:nvSpPr>
          <p:cNvPr id="398" name="Google Shape;398;p32"/>
          <p:cNvSpPr txBox="1"/>
          <p:nvPr/>
        </p:nvSpPr>
        <p:spPr>
          <a:xfrm>
            <a:off x="4526401" y="2619756"/>
            <a:ext cx="3813150" cy="534923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Compara a variância explicada com uma referência simples; não é porcentagem de acerto.</a:t>
            </a:r>
            <a:endParaRPr sz="1100"/>
          </a:p>
        </p:txBody>
      </p:sp>
      <p:sp>
        <p:nvSpPr>
          <p:cNvPr id="399" name="Google Shape;399;p32"/>
          <p:cNvSpPr/>
          <p:nvPr/>
        </p:nvSpPr>
        <p:spPr>
          <a:xfrm>
            <a:off x="4402953" y="3449574"/>
            <a:ext cx="4032611" cy="720090"/>
          </a:xfrm>
          <a:prstGeom prst="roundRect">
            <a:avLst>
              <a:gd fmla="val 12000" name="adj"/>
            </a:avLst>
          </a:prstGeom>
          <a:solidFill>
            <a:srgbClr val="FFF3D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4560692" y="3579876"/>
            <a:ext cx="3717135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Escolha a métrica pelo impacto real: errar R$ 100 em um imóvel não é igual a errar 100 minutos em uma entrega.</a:t>
            </a:r>
            <a:endParaRPr sz="1100"/>
          </a:p>
        </p:txBody>
      </p:sp>
      <p:cxnSp>
        <p:nvCxnSpPr>
          <p:cNvPr id="401" name="Google Shape;401;p32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2" name="Google Shape;402;p32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403" name="Google Shape;403;p32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Clusterização: descobrir estrutura sem rótulos</a:t>
            </a:r>
            <a:endParaRPr sz="1100"/>
          </a:p>
        </p:txBody>
      </p:sp>
      <p:sp>
        <p:nvSpPr>
          <p:cNvPr id="410" name="Google Shape;410;p33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 algoritmo agrupa por semelhança segundo uma representação e uma medida de distância.</a:t>
            </a:r>
            <a:endParaRPr sz="1100"/>
          </a:p>
        </p:txBody>
      </p:sp>
      <p:sp>
        <p:nvSpPr>
          <p:cNvPr id="411" name="Google Shape;411;p33"/>
          <p:cNvSpPr/>
          <p:nvPr/>
        </p:nvSpPr>
        <p:spPr>
          <a:xfrm>
            <a:off x="534938" y="1110996"/>
            <a:ext cx="4183492" cy="32575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 txBox="1"/>
          <p:nvPr/>
        </p:nvSpPr>
        <p:spPr>
          <a:xfrm>
            <a:off x="720109" y="1282446"/>
            <a:ext cx="377200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Exemplo ilustrativo de grupos</a:t>
            </a:r>
            <a:endParaRPr sz="1100"/>
          </a:p>
        </p:txBody>
      </p:sp>
      <p:sp>
        <p:nvSpPr>
          <p:cNvPr id="413" name="Google Shape;413;p33"/>
          <p:cNvSpPr/>
          <p:nvPr/>
        </p:nvSpPr>
        <p:spPr>
          <a:xfrm>
            <a:off x="1395640" y="2149983"/>
            <a:ext cx="89156" cy="89154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1635677" y="2287143"/>
            <a:ext cx="89156" cy="89154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1224186" y="2232279"/>
            <a:ext cx="89156" cy="89154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1546520" y="1944243"/>
            <a:ext cx="89156" cy="89154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1121313" y="1978533"/>
            <a:ext cx="89156" cy="89154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1464222" y="2458593"/>
            <a:ext cx="89156" cy="89154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1354491" y="2108835"/>
            <a:ext cx="171455" cy="171450"/>
          </a:xfrm>
          <a:prstGeom prst="ellipse">
            <a:avLst/>
          </a:prstGeom>
          <a:solidFill>
            <a:srgbClr val="FFFFFF"/>
          </a:solidFill>
          <a:ln cap="flat" cmpd="sng" w="101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 txBox="1"/>
          <p:nvPr/>
        </p:nvSpPr>
        <p:spPr>
          <a:xfrm>
            <a:off x="1378495" y="2125980"/>
            <a:ext cx="12344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6B8A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421" name="Google Shape;421;p33"/>
          <p:cNvSpPr/>
          <p:nvPr/>
        </p:nvSpPr>
        <p:spPr>
          <a:xfrm>
            <a:off x="2904440" y="2115693"/>
            <a:ext cx="89156" cy="89154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3096469" y="2184273"/>
            <a:ext cx="89156" cy="89154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2732986" y="2239137"/>
            <a:ext cx="89156" cy="89154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3144476" y="1944243"/>
            <a:ext cx="89156" cy="89154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2698695" y="1909953"/>
            <a:ext cx="89156" cy="89154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2938731" y="2390013"/>
            <a:ext cx="89156" cy="89154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2863291" y="2074545"/>
            <a:ext cx="171455" cy="171450"/>
          </a:xfrm>
          <a:prstGeom prst="ellipse">
            <a:avLst/>
          </a:prstGeom>
          <a:solidFill>
            <a:srgbClr val="FFFFFF"/>
          </a:solidFill>
          <a:ln cap="flat" cmpd="sng" w="10150">
            <a:solidFill>
              <a:srgbClr val="F5A7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 txBox="1"/>
          <p:nvPr/>
        </p:nvSpPr>
        <p:spPr>
          <a:xfrm>
            <a:off x="2887295" y="2091690"/>
            <a:ext cx="12344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5A74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429" name="Google Shape;429;p33"/>
          <p:cNvSpPr/>
          <p:nvPr/>
        </p:nvSpPr>
        <p:spPr>
          <a:xfrm>
            <a:off x="2218622" y="3281552"/>
            <a:ext cx="89156" cy="89154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2438083" y="3336416"/>
            <a:ext cx="89156" cy="89154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2047168" y="3404996"/>
            <a:ext cx="89156" cy="89154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2424367" y="3144392"/>
            <a:ext cx="89156" cy="89154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2012877" y="3110102"/>
            <a:ext cx="89156" cy="89154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2287204" y="3528441"/>
            <a:ext cx="89156" cy="89154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2177473" y="3240405"/>
            <a:ext cx="171455" cy="171450"/>
          </a:xfrm>
          <a:prstGeom prst="ellipse">
            <a:avLst/>
          </a:prstGeom>
          <a:solidFill>
            <a:srgbClr val="FFFFFF"/>
          </a:solidFill>
          <a:ln cap="flat" cmpd="sng" w="10150">
            <a:solidFill>
              <a:srgbClr val="8170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 txBox="1"/>
          <p:nvPr/>
        </p:nvSpPr>
        <p:spPr>
          <a:xfrm>
            <a:off x="2201477" y="3257550"/>
            <a:ext cx="12344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8170D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437" name="Google Shape;437;p33"/>
          <p:cNvSpPr txBox="1"/>
          <p:nvPr/>
        </p:nvSpPr>
        <p:spPr>
          <a:xfrm>
            <a:off x="720109" y="4066794"/>
            <a:ext cx="3703419" cy="157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 cores são grupos detectados, não categorias “verdadeiras” conhecidas.</a:t>
            </a:r>
            <a:endParaRPr sz="1100"/>
          </a:p>
        </p:txBody>
      </p:sp>
      <p:sp>
        <p:nvSpPr>
          <p:cNvPr id="438" name="Google Shape;438;p33"/>
          <p:cNvSpPr/>
          <p:nvPr/>
        </p:nvSpPr>
        <p:spPr>
          <a:xfrm>
            <a:off x="4972183" y="1110996"/>
            <a:ext cx="3497673" cy="857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4972183" y="1110996"/>
            <a:ext cx="48007" cy="85725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 txBox="1"/>
          <p:nvPr/>
        </p:nvSpPr>
        <p:spPr>
          <a:xfrm>
            <a:off x="5095630" y="1200150"/>
            <a:ext cx="32782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sz="1100"/>
          </a:p>
        </p:txBody>
      </p:sp>
      <p:sp>
        <p:nvSpPr>
          <p:cNvPr id="441" name="Google Shape;441;p33"/>
          <p:cNvSpPr txBox="1"/>
          <p:nvPr/>
        </p:nvSpPr>
        <p:spPr>
          <a:xfrm>
            <a:off x="5095630" y="1467612"/>
            <a:ext cx="3278211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Segmentação de clientes, agrupamento de alertas e exploração de dados.</a:t>
            </a:r>
            <a:endParaRPr sz="1100"/>
          </a:p>
        </p:txBody>
      </p:sp>
      <p:sp>
        <p:nvSpPr>
          <p:cNvPr id="442" name="Google Shape;442;p33"/>
          <p:cNvSpPr/>
          <p:nvPr/>
        </p:nvSpPr>
        <p:spPr>
          <a:xfrm>
            <a:off x="4972183" y="2112264"/>
            <a:ext cx="3497673" cy="857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3"/>
          <p:cNvSpPr/>
          <p:nvPr/>
        </p:nvSpPr>
        <p:spPr>
          <a:xfrm>
            <a:off x="4972183" y="2112264"/>
            <a:ext cx="48007" cy="85725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3"/>
          <p:cNvSpPr txBox="1"/>
          <p:nvPr/>
        </p:nvSpPr>
        <p:spPr>
          <a:xfrm>
            <a:off x="5095630" y="2201418"/>
            <a:ext cx="32782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Cuidados</a:t>
            </a:r>
            <a:endParaRPr sz="1100"/>
          </a:p>
        </p:txBody>
      </p:sp>
      <p:sp>
        <p:nvSpPr>
          <p:cNvPr id="445" name="Google Shape;445;p33"/>
          <p:cNvSpPr txBox="1"/>
          <p:nvPr/>
        </p:nvSpPr>
        <p:spPr>
          <a:xfrm>
            <a:off x="5095630" y="2468880"/>
            <a:ext cx="3278211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Escala de atributos, forma dos grupos, ruído e escolha de k (em K-means).</a:t>
            </a:r>
            <a:endParaRPr sz="1100"/>
          </a:p>
        </p:txBody>
      </p:sp>
      <p:sp>
        <p:nvSpPr>
          <p:cNvPr id="446" name="Google Shape;446;p33"/>
          <p:cNvSpPr/>
          <p:nvPr/>
        </p:nvSpPr>
        <p:spPr>
          <a:xfrm>
            <a:off x="4972183" y="3113532"/>
            <a:ext cx="3497673" cy="857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3"/>
          <p:cNvSpPr/>
          <p:nvPr/>
        </p:nvSpPr>
        <p:spPr>
          <a:xfrm>
            <a:off x="4972183" y="3113532"/>
            <a:ext cx="48007" cy="857250"/>
          </a:xfrm>
          <a:prstGeom prst="rect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3"/>
          <p:cNvSpPr txBox="1"/>
          <p:nvPr/>
        </p:nvSpPr>
        <p:spPr>
          <a:xfrm>
            <a:off x="5095630" y="3202686"/>
            <a:ext cx="32782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sz="1100"/>
          </a:p>
        </p:txBody>
      </p:sp>
      <p:sp>
        <p:nvSpPr>
          <p:cNvPr id="449" name="Google Shape;449;p33"/>
          <p:cNvSpPr txBox="1"/>
          <p:nvPr/>
        </p:nvSpPr>
        <p:spPr>
          <a:xfrm>
            <a:off x="5095630" y="3470148"/>
            <a:ext cx="3278211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Silhouette ajuda; interpretação e utilidade do grupo também são essenciais.</a:t>
            </a:r>
            <a:endParaRPr sz="1100"/>
          </a:p>
        </p:txBody>
      </p:sp>
      <p:cxnSp>
        <p:nvCxnSpPr>
          <p:cNvPr id="450" name="Google Shape;450;p33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1" name="Google Shape;451;p33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452" name="Google Shape;452;p33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Avaliar sem se enganar: treino, validação e teste</a:t>
            </a:r>
            <a:endParaRPr sz="1100"/>
          </a:p>
        </p:txBody>
      </p:sp>
      <p:sp>
        <p:nvSpPr>
          <p:cNvPr id="459" name="Google Shape;459;p34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Um resultado alto pode ser consequência de vazamento de informação, e não de um bom modelo.</a:t>
            </a:r>
            <a:endParaRPr sz="1100"/>
          </a:p>
        </p:txBody>
      </p:sp>
      <p:sp>
        <p:nvSpPr>
          <p:cNvPr id="460" name="Google Shape;460;p34"/>
          <p:cNvSpPr/>
          <p:nvPr/>
        </p:nvSpPr>
        <p:spPr>
          <a:xfrm>
            <a:off x="651527" y="1371600"/>
            <a:ext cx="2057455" cy="10629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651527" y="1371600"/>
            <a:ext cx="2057455" cy="6858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788691" y="1549907"/>
            <a:ext cx="17831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TREINO</a:t>
            </a:r>
            <a:endParaRPr sz="1100"/>
          </a:p>
        </p:txBody>
      </p:sp>
      <p:sp>
        <p:nvSpPr>
          <p:cNvPr id="463" name="Google Shape;463;p34"/>
          <p:cNvSpPr txBox="1"/>
          <p:nvPr/>
        </p:nvSpPr>
        <p:spPr>
          <a:xfrm>
            <a:off x="788691" y="1851660"/>
            <a:ext cx="1783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Aprender parâmetros</a:t>
            </a:r>
            <a:endParaRPr sz="1100"/>
          </a:p>
        </p:txBody>
      </p:sp>
      <p:sp>
        <p:nvSpPr>
          <p:cNvPr id="464" name="Google Shape;464;p34"/>
          <p:cNvSpPr/>
          <p:nvPr/>
        </p:nvSpPr>
        <p:spPr>
          <a:xfrm>
            <a:off x="3189055" y="1371600"/>
            <a:ext cx="2057455" cy="10629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3189055" y="1371600"/>
            <a:ext cx="2057455" cy="6858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 txBox="1"/>
          <p:nvPr/>
        </p:nvSpPr>
        <p:spPr>
          <a:xfrm>
            <a:off x="3326219" y="1549907"/>
            <a:ext cx="17831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sz="1100"/>
          </a:p>
        </p:txBody>
      </p:sp>
      <p:sp>
        <p:nvSpPr>
          <p:cNvPr id="467" name="Google Shape;467;p34"/>
          <p:cNvSpPr txBox="1"/>
          <p:nvPr/>
        </p:nvSpPr>
        <p:spPr>
          <a:xfrm>
            <a:off x="3326219" y="1851660"/>
            <a:ext cx="1783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Escolher modelo e hiperparâmetros</a:t>
            </a:r>
            <a:endParaRPr sz="1100"/>
          </a:p>
        </p:txBody>
      </p:sp>
      <p:sp>
        <p:nvSpPr>
          <p:cNvPr id="468" name="Google Shape;468;p34"/>
          <p:cNvSpPr/>
          <p:nvPr/>
        </p:nvSpPr>
        <p:spPr>
          <a:xfrm>
            <a:off x="5726583" y="1371600"/>
            <a:ext cx="2057455" cy="10629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5726583" y="1371600"/>
            <a:ext cx="2057455" cy="68580"/>
          </a:xfrm>
          <a:prstGeom prst="rect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 txBox="1"/>
          <p:nvPr/>
        </p:nvSpPr>
        <p:spPr>
          <a:xfrm>
            <a:off x="5863746" y="1549907"/>
            <a:ext cx="17831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TESTE</a:t>
            </a:r>
            <a:endParaRPr sz="1100"/>
          </a:p>
        </p:txBody>
      </p:sp>
      <p:sp>
        <p:nvSpPr>
          <p:cNvPr id="471" name="Google Shape;471;p34"/>
          <p:cNvSpPr txBox="1"/>
          <p:nvPr/>
        </p:nvSpPr>
        <p:spPr>
          <a:xfrm>
            <a:off x="5863746" y="1851660"/>
            <a:ext cx="1783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Estimativa final em dados não usados</a:t>
            </a:r>
            <a:endParaRPr sz="1100"/>
          </a:p>
        </p:txBody>
      </p:sp>
      <p:cxnSp>
        <p:nvCxnSpPr>
          <p:cNvPr id="472" name="Google Shape;472;p34"/>
          <p:cNvCxnSpPr/>
          <p:nvPr/>
        </p:nvCxnSpPr>
        <p:spPr>
          <a:xfrm>
            <a:off x="2777564" y="1906524"/>
            <a:ext cx="308618" cy="0"/>
          </a:xfrm>
          <a:prstGeom prst="straightConnector1">
            <a:avLst/>
          </a:prstGeom>
          <a:noFill/>
          <a:ln cap="flat" cmpd="sng" w="2157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3" name="Google Shape;473;p34"/>
          <p:cNvSpPr/>
          <p:nvPr/>
        </p:nvSpPr>
        <p:spPr>
          <a:xfrm rot="5400000">
            <a:off x="3024460" y="1844800"/>
            <a:ext cx="123444" cy="12344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34"/>
          <p:cNvCxnSpPr/>
          <p:nvPr/>
        </p:nvCxnSpPr>
        <p:spPr>
          <a:xfrm>
            <a:off x="5315092" y="1906524"/>
            <a:ext cx="308617" cy="0"/>
          </a:xfrm>
          <a:prstGeom prst="straightConnector1">
            <a:avLst/>
          </a:prstGeom>
          <a:noFill/>
          <a:ln cap="flat" cmpd="sng" w="2157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5" name="Google Shape;475;p34"/>
          <p:cNvSpPr/>
          <p:nvPr/>
        </p:nvSpPr>
        <p:spPr>
          <a:xfrm rot="5400000">
            <a:off x="5561987" y="1844800"/>
            <a:ext cx="123444" cy="12344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651527" y="2846070"/>
            <a:ext cx="3737710" cy="1062990"/>
          </a:xfrm>
          <a:prstGeom prst="roundRect">
            <a:avLst>
              <a:gd fmla="val 12000" name="adj"/>
            </a:avLst>
          </a:prstGeom>
          <a:solidFill>
            <a:srgbClr val="FCEBED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651527" y="2846070"/>
            <a:ext cx="48007" cy="1062990"/>
          </a:xfrm>
          <a:prstGeom prst="rect">
            <a:avLst/>
          </a:prstGeom>
          <a:solidFill>
            <a:srgbClr val="E160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774974" y="2935224"/>
            <a:ext cx="351824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Data leakage</a:t>
            </a:r>
            <a:endParaRPr sz="1100"/>
          </a:p>
        </p:txBody>
      </p:sp>
      <p:sp>
        <p:nvSpPr>
          <p:cNvPr id="479" name="Google Shape;479;p34"/>
          <p:cNvSpPr txBox="1"/>
          <p:nvPr/>
        </p:nvSpPr>
        <p:spPr>
          <a:xfrm>
            <a:off x="774974" y="3202686"/>
            <a:ext cx="3518248" cy="63779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Informação que não estaria disponível no momento real da previsão entra no treino ou na validação.</a:t>
            </a:r>
            <a:endParaRPr sz="1100"/>
          </a:p>
        </p:txBody>
      </p:sp>
      <p:sp>
        <p:nvSpPr>
          <p:cNvPr id="480" name="Google Shape;480;p34"/>
          <p:cNvSpPr/>
          <p:nvPr/>
        </p:nvSpPr>
        <p:spPr>
          <a:xfrm>
            <a:off x="4697855" y="2846070"/>
            <a:ext cx="3737710" cy="1062990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4697855" y="2846070"/>
            <a:ext cx="48007" cy="106299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"/>
          <p:cNvSpPr txBox="1"/>
          <p:nvPr/>
        </p:nvSpPr>
        <p:spPr>
          <a:xfrm>
            <a:off x="4821302" y="2935224"/>
            <a:ext cx="351824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Divisão coerente</a:t>
            </a:r>
            <a:endParaRPr sz="1100"/>
          </a:p>
        </p:txBody>
      </p:sp>
      <p:sp>
        <p:nvSpPr>
          <p:cNvPr id="483" name="Google Shape;483;p34"/>
          <p:cNvSpPr txBox="1"/>
          <p:nvPr/>
        </p:nvSpPr>
        <p:spPr>
          <a:xfrm>
            <a:off x="4821302" y="3202686"/>
            <a:ext cx="3518248" cy="63779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Séries temporais pedem divisão temporal; dados agrupados podem exigir split por pessoa, dispositivo ou origem.</a:t>
            </a:r>
            <a:endParaRPr sz="1100"/>
          </a:p>
        </p:txBody>
      </p:sp>
      <p:cxnSp>
        <p:nvCxnSpPr>
          <p:cNvPr id="484" name="Google Shape;484;p34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5" name="Google Shape;485;p34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486" name="Google Shape;486;p34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5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Deep Learning: o neurônio artificial</a:t>
            </a:r>
            <a:endParaRPr sz="1100"/>
          </a:p>
        </p:txBody>
      </p:sp>
      <p:sp>
        <p:nvSpPr>
          <p:cNvPr id="493" name="Google Shape;493;p35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Um neurônio combina entradas, pesos, viés e uma função de ativação.</a:t>
            </a:r>
            <a:endParaRPr sz="1100"/>
          </a:p>
        </p:txBody>
      </p:sp>
      <p:sp>
        <p:nvSpPr>
          <p:cNvPr id="494" name="Google Shape;494;p35"/>
          <p:cNvSpPr/>
          <p:nvPr/>
        </p:nvSpPr>
        <p:spPr>
          <a:xfrm>
            <a:off x="795549" y="1447038"/>
            <a:ext cx="329193" cy="329184"/>
          </a:xfrm>
          <a:prstGeom prst="ellipse">
            <a:avLst/>
          </a:prstGeom>
          <a:solidFill>
            <a:srgbClr val="EAF1FA"/>
          </a:solidFill>
          <a:ln cap="flat" cmpd="sng" w="10150">
            <a:solidFill>
              <a:srgbClr val="315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822982" y="1522476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x₁</a:t>
            </a:r>
            <a:endParaRPr sz="1100"/>
          </a:p>
        </p:txBody>
      </p:sp>
      <p:cxnSp>
        <p:nvCxnSpPr>
          <p:cNvPr id="496" name="Google Shape;496;p35"/>
          <p:cNvCxnSpPr/>
          <p:nvPr/>
        </p:nvCxnSpPr>
        <p:spPr>
          <a:xfrm>
            <a:off x="1138458" y="1611630"/>
            <a:ext cx="1776269" cy="685800"/>
          </a:xfrm>
          <a:prstGeom prst="straightConnector1">
            <a:avLst/>
          </a:prstGeom>
          <a:noFill/>
          <a:ln cap="flat" cmpd="sng" w="17775">
            <a:solidFill>
              <a:srgbClr val="315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7" name="Google Shape;497;p35"/>
          <p:cNvSpPr txBox="1"/>
          <p:nvPr/>
        </p:nvSpPr>
        <p:spPr>
          <a:xfrm>
            <a:off x="1748837" y="1508760"/>
            <a:ext cx="49378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w₁</a:t>
            </a:r>
            <a:endParaRPr sz="1100"/>
          </a:p>
        </p:txBody>
      </p:sp>
      <p:sp>
        <p:nvSpPr>
          <p:cNvPr id="498" name="Google Shape;498;p35"/>
          <p:cNvSpPr/>
          <p:nvPr/>
        </p:nvSpPr>
        <p:spPr>
          <a:xfrm>
            <a:off x="795549" y="2132838"/>
            <a:ext cx="329193" cy="329184"/>
          </a:xfrm>
          <a:prstGeom prst="ellipse">
            <a:avLst/>
          </a:prstGeom>
          <a:solidFill>
            <a:srgbClr val="EAF1FA"/>
          </a:solidFill>
          <a:ln cap="flat" cmpd="sng" w="10150">
            <a:solidFill>
              <a:srgbClr val="315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5"/>
          <p:cNvSpPr txBox="1"/>
          <p:nvPr/>
        </p:nvSpPr>
        <p:spPr>
          <a:xfrm>
            <a:off x="822982" y="2208276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x₂</a:t>
            </a:r>
            <a:endParaRPr sz="1100"/>
          </a:p>
        </p:txBody>
      </p:sp>
      <p:cxnSp>
        <p:nvCxnSpPr>
          <p:cNvPr id="500" name="Google Shape;500;p35"/>
          <p:cNvCxnSpPr/>
          <p:nvPr/>
        </p:nvCxnSpPr>
        <p:spPr>
          <a:xfrm>
            <a:off x="1138458" y="2297430"/>
            <a:ext cx="1776269" cy="0"/>
          </a:xfrm>
          <a:prstGeom prst="straightConnector1">
            <a:avLst/>
          </a:prstGeom>
          <a:noFill/>
          <a:ln cap="flat" cmpd="sng" w="17775">
            <a:solidFill>
              <a:srgbClr val="315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1" name="Google Shape;501;p35"/>
          <p:cNvSpPr txBox="1"/>
          <p:nvPr/>
        </p:nvSpPr>
        <p:spPr>
          <a:xfrm>
            <a:off x="1748837" y="2194560"/>
            <a:ext cx="49378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w₂</a:t>
            </a:r>
            <a:endParaRPr sz="1100"/>
          </a:p>
        </p:txBody>
      </p:sp>
      <p:sp>
        <p:nvSpPr>
          <p:cNvPr id="502" name="Google Shape;502;p35"/>
          <p:cNvSpPr/>
          <p:nvPr/>
        </p:nvSpPr>
        <p:spPr>
          <a:xfrm>
            <a:off x="795549" y="2818637"/>
            <a:ext cx="329193" cy="329184"/>
          </a:xfrm>
          <a:prstGeom prst="ellipse">
            <a:avLst/>
          </a:prstGeom>
          <a:solidFill>
            <a:srgbClr val="EAF1FA"/>
          </a:solidFill>
          <a:ln cap="flat" cmpd="sng" w="10150">
            <a:solidFill>
              <a:srgbClr val="315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5"/>
          <p:cNvSpPr txBox="1"/>
          <p:nvPr/>
        </p:nvSpPr>
        <p:spPr>
          <a:xfrm>
            <a:off x="822982" y="2894076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315C8C"/>
                </a:solidFill>
                <a:latin typeface="Arial"/>
                <a:ea typeface="Arial"/>
                <a:cs typeface="Arial"/>
                <a:sym typeface="Arial"/>
              </a:rPr>
              <a:t>x₃</a:t>
            </a:r>
            <a:endParaRPr sz="1100"/>
          </a:p>
        </p:txBody>
      </p:sp>
      <p:cxnSp>
        <p:nvCxnSpPr>
          <p:cNvPr id="504" name="Google Shape;504;p35"/>
          <p:cNvCxnSpPr/>
          <p:nvPr/>
        </p:nvCxnSpPr>
        <p:spPr>
          <a:xfrm flipH="1" rot="10800000">
            <a:off x="1138458" y="2297430"/>
            <a:ext cx="1776269" cy="685799"/>
          </a:xfrm>
          <a:prstGeom prst="straightConnector1">
            <a:avLst/>
          </a:prstGeom>
          <a:noFill/>
          <a:ln cap="flat" cmpd="sng" w="17775">
            <a:solidFill>
              <a:srgbClr val="315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5" name="Google Shape;505;p35"/>
          <p:cNvSpPr txBox="1"/>
          <p:nvPr/>
        </p:nvSpPr>
        <p:spPr>
          <a:xfrm>
            <a:off x="1748837" y="2880359"/>
            <a:ext cx="49378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w₃</a:t>
            </a:r>
            <a:endParaRPr sz="1100"/>
          </a:p>
        </p:txBody>
      </p:sp>
      <p:sp>
        <p:nvSpPr>
          <p:cNvPr id="506" name="Google Shape;506;p35"/>
          <p:cNvSpPr/>
          <p:nvPr/>
        </p:nvSpPr>
        <p:spPr>
          <a:xfrm>
            <a:off x="2914728" y="1728216"/>
            <a:ext cx="1063018" cy="1131570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 cap="flat" cmpd="sng" w="101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5"/>
          <p:cNvSpPr txBox="1"/>
          <p:nvPr/>
        </p:nvSpPr>
        <p:spPr>
          <a:xfrm>
            <a:off x="3017600" y="1940814"/>
            <a:ext cx="8572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rgbClr val="087F79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sz="1100"/>
          </a:p>
        </p:txBody>
      </p:sp>
      <p:sp>
        <p:nvSpPr>
          <p:cNvPr id="508" name="Google Shape;508;p35"/>
          <p:cNvSpPr txBox="1"/>
          <p:nvPr/>
        </p:nvSpPr>
        <p:spPr>
          <a:xfrm>
            <a:off x="3031317" y="2311146"/>
            <a:ext cx="8229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+ b</a:t>
            </a:r>
            <a:endParaRPr sz="1100"/>
          </a:p>
        </p:txBody>
      </p:sp>
      <p:cxnSp>
        <p:nvCxnSpPr>
          <p:cNvPr id="509" name="Google Shape;509;p35"/>
          <p:cNvCxnSpPr/>
          <p:nvPr/>
        </p:nvCxnSpPr>
        <p:spPr>
          <a:xfrm>
            <a:off x="3991462" y="2297430"/>
            <a:ext cx="500647" cy="0"/>
          </a:xfrm>
          <a:prstGeom prst="straightConnector1">
            <a:avLst/>
          </a:prstGeom>
          <a:noFill/>
          <a:ln cap="flat" cmpd="sng" w="2540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0" name="Google Shape;510;p35"/>
          <p:cNvSpPr/>
          <p:nvPr/>
        </p:nvSpPr>
        <p:spPr>
          <a:xfrm rot="5400000">
            <a:off x="4418043" y="2223361"/>
            <a:ext cx="148133" cy="148136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4492110" y="1728216"/>
            <a:ext cx="1131600" cy="1131570"/>
          </a:xfrm>
          <a:prstGeom prst="roundRect">
            <a:avLst>
              <a:gd fmla="val 12000" name="adj"/>
            </a:avLst>
          </a:prstGeom>
          <a:solidFill>
            <a:srgbClr val="FFF3DF"/>
          </a:solidFill>
          <a:ln cap="flat" cmpd="sng" w="10150">
            <a:solidFill>
              <a:srgbClr val="F5A7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4608699" y="1961388"/>
            <a:ext cx="891564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A9680A"/>
                </a:solidFill>
                <a:latin typeface="Arial"/>
                <a:ea typeface="Arial"/>
                <a:cs typeface="Arial"/>
                <a:sym typeface="Arial"/>
              </a:rPr>
              <a:t>f(z)</a:t>
            </a:r>
            <a:endParaRPr sz="1100"/>
          </a:p>
        </p:txBody>
      </p:sp>
      <p:sp>
        <p:nvSpPr>
          <p:cNvPr id="513" name="Google Shape;513;p35"/>
          <p:cNvSpPr txBox="1"/>
          <p:nvPr/>
        </p:nvSpPr>
        <p:spPr>
          <a:xfrm>
            <a:off x="4608699" y="2304288"/>
            <a:ext cx="8915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ativação</a:t>
            </a:r>
            <a:endParaRPr sz="1100"/>
          </a:p>
        </p:txBody>
      </p:sp>
      <p:cxnSp>
        <p:nvCxnSpPr>
          <p:cNvPr id="514" name="Google Shape;514;p35"/>
          <p:cNvCxnSpPr/>
          <p:nvPr/>
        </p:nvCxnSpPr>
        <p:spPr>
          <a:xfrm>
            <a:off x="5637426" y="2297430"/>
            <a:ext cx="603520" cy="0"/>
          </a:xfrm>
          <a:prstGeom prst="straightConnector1">
            <a:avLst/>
          </a:prstGeom>
          <a:noFill/>
          <a:ln cap="flat" cmpd="sng" w="2540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5" name="Google Shape;515;p35"/>
          <p:cNvSpPr/>
          <p:nvPr/>
        </p:nvSpPr>
        <p:spPr>
          <a:xfrm rot="5400000">
            <a:off x="6166879" y="2223361"/>
            <a:ext cx="148133" cy="148136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6240946" y="1885950"/>
            <a:ext cx="1680255" cy="822960"/>
          </a:xfrm>
          <a:prstGeom prst="roundRect">
            <a:avLst>
              <a:gd fmla="val 12000" name="adj"/>
            </a:avLst>
          </a:prstGeom>
          <a:solidFill>
            <a:srgbClr val="101B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6378110" y="2023110"/>
            <a:ext cx="14059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saída ŷ</a:t>
            </a:r>
            <a:endParaRPr sz="1100"/>
          </a:p>
        </p:txBody>
      </p:sp>
      <p:sp>
        <p:nvSpPr>
          <p:cNvPr id="518" name="Google Shape;518;p35"/>
          <p:cNvSpPr txBox="1"/>
          <p:nvPr/>
        </p:nvSpPr>
        <p:spPr>
          <a:xfrm>
            <a:off x="6378110" y="2297430"/>
            <a:ext cx="140592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B9C7D9"/>
                </a:solidFill>
                <a:latin typeface="Arial"/>
                <a:ea typeface="Arial"/>
                <a:cs typeface="Arial"/>
                <a:sym typeface="Arial"/>
              </a:rPr>
              <a:t>representação / predição</a:t>
            </a:r>
            <a:endParaRPr sz="1100"/>
          </a:p>
        </p:txBody>
      </p:sp>
      <p:sp>
        <p:nvSpPr>
          <p:cNvPr id="519" name="Google Shape;519;p35"/>
          <p:cNvSpPr/>
          <p:nvPr/>
        </p:nvSpPr>
        <p:spPr>
          <a:xfrm>
            <a:off x="651527" y="3717036"/>
            <a:ext cx="7818328" cy="4800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857273" y="3826764"/>
            <a:ext cx="74068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z = w₁x₁ + w₂x₂ + w₃x₃ + b     →     saída = f(z)</a:t>
            </a:r>
            <a:endParaRPr sz="1100"/>
          </a:p>
        </p:txBody>
      </p:sp>
      <p:cxnSp>
        <p:nvCxnSpPr>
          <p:cNvPr id="521" name="Google Shape;521;p35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22" name="Google Shape;522;p35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523" name="Google Shape;523;p35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MLP: camadas totalmente conectadas</a:t>
            </a:r>
            <a:endParaRPr sz="1100"/>
          </a:p>
        </p:txBody>
      </p:sp>
      <p:sp>
        <p:nvSpPr>
          <p:cNvPr id="530" name="Google Shape;530;p36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Cada neurônio de uma camada se conecta aos neurônios da camada seguinte.</a:t>
            </a:r>
            <a:endParaRPr sz="1100"/>
          </a:p>
        </p:txBody>
      </p:sp>
      <p:sp>
        <p:nvSpPr>
          <p:cNvPr id="531" name="Google Shape;531;p36"/>
          <p:cNvSpPr txBox="1"/>
          <p:nvPr/>
        </p:nvSpPr>
        <p:spPr>
          <a:xfrm>
            <a:off x="822982" y="1042416"/>
            <a:ext cx="10973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ENTRADAS</a:t>
            </a:r>
            <a:endParaRPr sz="1100"/>
          </a:p>
        </p:txBody>
      </p:sp>
      <p:sp>
        <p:nvSpPr>
          <p:cNvPr id="532" name="Google Shape;532;p36"/>
          <p:cNvSpPr/>
          <p:nvPr/>
        </p:nvSpPr>
        <p:spPr>
          <a:xfrm>
            <a:off x="1227615" y="1261871"/>
            <a:ext cx="288044" cy="288036"/>
          </a:xfrm>
          <a:prstGeom prst="ellipse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1227615" y="1268729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534" name="Google Shape;534;p36"/>
          <p:cNvSpPr/>
          <p:nvPr/>
        </p:nvSpPr>
        <p:spPr>
          <a:xfrm>
            <a:off x="1227615" y="2239136"/>
            <a:ext cx="288044" cy="288036"/>
          </a:xfrm>
          <a:prstGeom prst="ellipse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1227615" y="2245994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536" name="Google Shape;536;p36"/>
          <p:cNvSpPr/>
          <p:nvPr/>
        </p:nvSpPr>
        <p:spPr>
          <a:xfrm>
            <a:off x="1227615" y="3216402"/>
            <a:ext cx="288044" cy="288036"/>
          </a:xfrm>
          <a:prstGeom prst="ellipse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1227615" y="3223260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538" name="Google Shape;538;p36"/>
          <p:cNvSpPr txBox="1"/>
          <p:nvPr/>
        </p:nvSpPr>
        <p:spPr>
          <a:xfrm>
            <a:off x="2949019" y="1042416"/>
            <a:ext cx="10973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OCULTA 1</a:t>
            </a:r>
            <a:endParaRPr sz="1100"/>
          </a:p>
        </p:txBody>
      </p:sp>
      <p:sp>
        <p:nvSpPr>
          <p:cNvPr id="539" name="Google Shape;539;p36"/>
          <p:cNvSpPr/>
          <p:nvPr/>
        </p:nvSpPr>
        <p:spPr>
          <a:xfrm>
            <a:off x="3353651" y="1261871"/>
            <a:ext cx="288044" cy="28803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3353651" y="1268729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541" name="Google Shape;541;p36"/>
          <p:cNvSpPr/>
          <p:nvPr/>
        </p:nvSpPr>
        <p:spPr>
          <a:xfrm>
            <a:off x="3353651" y="1913382"/>
            <a:ext cx="288044" cy="28803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3353651" y="1920240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543" name="Google Shape;543;p36"/>
          <p:cNvSpPr/>
          <p:nvPr/>
        </p:nvSpPr>
        <p:spPr>
          <a:xfrm>
            <a:off x="3353651" y="2564892"/>
            <a:ext cx="288044" cy="28803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6"/>
          <p:cNvSpPr txBox="1"/>
          <p:nvPr/>
        </p:nvSpPr>
        <p:spPr>
          <a:xfrm>
            <a:off x="3353651" y="2571750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545" name="Google Shape;545;p36"/>
          <p:cNvSpPr/>
          <p:nvPr/>
        </p:nvSpPr>
        <p:spPr>
          <a:xfrm>
            <a:off x="3353651" y="3216402"/>
            <a:ext cx="288044" cy="288036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6"/>
          <p:cNvSpPr txBox="1"/>
          <p:nvPr/>
        </p:nvSpPr>
        <p:spPr>
          <a:xfrm>
            <a:off x="3353651" y="3223260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547" name="Google Shape;547;p36"/>
          <p:cNvSpPr txBox="1"/>
          <p:nvPr/>
        </p:nvSpPr>
        <p:spPr>
          <a:xfrm>
            <a:off x="5040764" y="1042416"/>
            <a:ext cx="10973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OCULTA 2</a:t>
            </a:r>
            <a:endParaRPr sz="1100"/>
          </a:p>
        </p:txBody>
      </p:sp>
      <p:sp>
        <p:nvSpPr>
          <p:cNvPr id="548" name="Google Shape;548;p36"/>
          <p:cNvSpPr/>
          <p:nvPr/>
        </p:nvSpPr>
        <p:spPr>
          <a:xfrm>
            <a:off x="5445397" y="1261871"/>
            <a:ext cx="288044" cy="288036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6"/>
          <p:cNvSpPr txBox="1"/>
          <p:nvPr/>
        </p:nvSpPr>
        <p:spPr>
          <a:xfrm>
            <a:off x="5445397" y="1268729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550" name="Google Shape;550;p36"/>
          <p:cNvSpPr/>
          <p:nvPr/>
        </p:nvSpPr>
        <p:spPr>
          <a:xfrm>
            <a:off x="5445397" y="2239136"/>
            <a:ext cx="288044" cy="288036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5445397" y="2245994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552" name="Google Shape;552;p36"/>
          <p:cNvSpPr/>
          <p:nvPr/>
        </p:nvSpPr>
        <p:spPr>
          <a:xfrm>
            <a:off x="5445397" y="3216402"/>
            <a:ext cx="288044" cy="288036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 txBox="1"/>
          <p:nvPr/>
        </p:nvSpPr>
        <p:spPr>
          <a:xfrm>
            <a:off x="5445397" y="3223260"/>
            <a:ext cx="288044" cy="274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554" name="Google Shape;554;p36"/>
          <p:cNvSpPr txBox="1"/>
          <p:nvPr/>
        </p:nvSpPr>
        <p:spPr>
          <a:xfrm>
            <a:off x="7251887" y="1951891"/>
            <a:ext cx="109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sz="1100"/>
          </a:p>
        </p:txBody>
      </p:sp>
      <p:sp>
        <p:nvSpPr>
          <p:cNvPr id="555" name="Google Shape;555;p36"/>
          <p:cNvSpPr/>
          <p:nvPr/>
        </p:nvSpPr>
        <p:spPr>
          <a:xfrm>
            <a:off x="7656520" y="2171346"/>
            <a:ext cx="288000" cy="288000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6"/>
          <p:cNvSpPr txBox="1"/>
          <p:nvPr/>
        </p:nvSpPr>
        <p:spPr>
          <a:xfrm>
            <a:off x="7656520" y="2178204"/>
            <a:ext cx="288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ŷ</a:t>
            </a:r>
            <a:endParaRPr sz="1100"/>
          </a:p>
        </p:txBody>
      </p:sp>
      <p:cxnSp>
        <p:nvCxnSpPr>
          <p:cNvPr id="557" name="Google Shape;557;p36"/>
          <p:cNvCxnSpPr/>
          <p:nvPr/>
        </p:nvCxnSpPr>
        <p:spPr>
          <a:xfrm>
            <a:off x="1508800" y="1405889"/>
            <a:ext cx="1851709" cy="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58" name="Google Shape;558;p36"/>
          <p:cNvCxnSpPr/>
          <p:nvPr/>
        </p:nvCxnSpPr>
        <p:spPr>
          <a:xfrm>
            <a:off x="1508800" y="1405889"/>
            <a:ext cx="1851709" cy="65151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59" name="Google Shape;559;p36"/>
          <p:cNvCxnSpPr/>
          <p:nvPr/>
        </p:nvCxnSpPr>
        <p:spPr>
          <a:xfrm>
            <a:off x="1508800" y="1405889"/>
            <a:ext cx="1851709" cy="130302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0" name="Google Shape;560;p36"/>
          <p:cNvCxnSpPr/>
          <p:nvPr/>
        </p:nvCxnSpPr>
        <p:spPr>
          <a:xfrm>
            <a:off x="1508800" y="1405889"/>
            <a:ext cx="1851709" cy="195453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1" name="Google Shape;561;p36"/>
          <p:cNvCxnSpPr/>
          <p:nvPr/>
        </p:nvCxnSpPr>
        <p:spPr>
          <a:xfrm flipH="1" rot="10800000">
            <a:off x="1508800" y="1405889"/>
            <a:ext cx="1851709" cy="977265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2" name="Google Shape;562;p36"/>
          <p:cNvCxnSpPr/>
          <p:nvPr/>
        </p:nvCxnSpPr>
        <p:spPr>
          <a:xfrm flipH="1" rot="10800000">
            <a:off x="1508800" y="2057400"/>
            <a:ext cx="1851709" cy="325754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3" name="Google Shape;563;p36"/>
          <p:cNvCxnSpPr/>
          <p:nvPr/>
        </p:nvCxnSpPr>
        <p:spPr>
          <a:xfrm>
            <a:off x="1508800" y="2383154"/>
            <a:ext cx="1851709" cy="325756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4" name="Google Shape;564;p36"/>
          <p:cNvCxnSpPr/>
          <p:nvPr/>
        </p:nvCxnSpPr>
        <p:spPr>
          <a:xfrm>
            <a:off x="1508800" y="2383154"/>
            <a:ext cx="1851709" cy="977266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5" name="Google Shape;565;p36"/>
          <p:cNvCxnSpPr/>
          <p:nvPr/>
        </p:nvCxnSpPr>
        <p:spPr>
          <a:xfrm flipH="1" rot="10800000">
            <a:off x="1508800" y="1405889"/>
            <a:ext cx="1851709" cy="195453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6" name="Google Shape;566;p36"/>
          <p:cNvCxnSpPr/>
          <p:nvPr/>
        </p:nvCxnSpPr>
        <p:spPr>
          <a:xfrm flipH="1" rot="10800000">
            <a:off x="1508800" y="2057400"/>
            <a:ext cx="1851709" cy="130302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7" name="Google Shape;567;p36"/>
          <p:cNvCxnSpPr/>
          <p:nvPr/>
        </p:nvCxnSpPr>
        <p:spPr>
          <a:xfrm flipH="1" rot="10800000">
            <a:off x="1508800" y="2708910"/>
            <a:ext cx="1851709" cy="65151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8" name="Google Shape;568;p36"/>
          <p:cNvCxnSpPr/>
          <p:nvPr/>
        </p:nvCxnSpPr>
        <p:spPr>
          <a:xfrm>
            <a:off x="1508800" y="3360420"/>
            <a:ext cx="1851709" cy="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69" name="Google Shape;569;p36"/>
          <p:cNvCxnSpPr/>
          <p:nvPr/>
        </p:nvCxnSpPr>
        <p:spPr>
          <a:xfrm>
            <a:off x="3634837" y="1405889"/>
            <a:ext cx="1817418" cy="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0" name="Google Shape;570;p36"/>
          <p:cNvCxnSpPr/>
          <p:nvPr/>
        </p:nvCxnSpPr>
        <p:spPr>
          <a:xfrm>
            <a:off x="3634837" y="1405889"/>
            <a:ext cx="1817418" cy="977265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1" name="Google Shape;571;p36"/>
          <p:cNvCxnSpPr/>
          <p:nvPr/>
        </p:nvCxnSpPr>
        <p:spPr>
          <a:xfrm>
            <a:off x="3634837" y="1405889"/>
            <a:ext cx="1817418" cy="195453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2" name="Google Shape;572;p36"/>
          <p:cNvCxnSpPr/>
          <p:nvPr/>
        </p:nvCxnSpPr>
        <p:spPr>
          <a:xfrm flipH="1" rot="10800000">
            <a:off x="3634837" y="1405889"/>
            <a:ext cx="1817418" cy="65151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3" name="Google Shape;573;p36"/>
          <p:cNvCxnSpPr/>
          <p:nvPr/>
        </p:nvCxnSpPr>
        <p:spPr>
          <a:xfrm>
            <a:off x="3634837" y="2057400"/>
            <a:ext cx="1817418" cy="325754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4" name="Google Shape;574;p36"/>
          <p:cNvCxnSpPr/>
          <p:nvPr/>
        </p:nvCxnSpPr>
        <p:spPr>
          <a:xfrm>
            <a:off x="3634837" y="2057400"/>
            <a:ext cx="1817418" cy="130302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5" name="Google Shape;575;p36"/>
          <p:cNvCxnSpPr/>
          <p:nvPr/>
        </p:nvCxnSpPr>
        <p:spPr>
          <a:xfrm flipH="1" rot="10800000">
            <a:off x="3634837" y="1405889"/>
            <a:ext cx="1817418" cy="130302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6" name="Google Shape;576;p36"/>
          <p:cNvCxnSpPr/>
          <p:nvPr/>
        </p:nvCxnSpPr>
        <p:spPr>
          <a:xfrm flipH="1" rot="10800000">
            <a:off x="3634837" y="2383154"/>
            <a:ext cx="1817418" cy="325756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7" name="Google Shape;577;p36"/>
          <p:cNvCxnSpPr/>
          <p:nvPr/>
        </p:nvCxnSpPr>
        <p:spPr>
          <a:xfrm>
            <a:off x="3634837" y="2708910"/>
            <a:ext cx="1817418" cy="65151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8" name="Google Shape;578;p36"/>
          <p:cNvCxnSpPr/>
          <p:nvPr/>
        </p:nvCxnSpPr>
        <p:spPr>
          <a:xfrm flipH="1" rot="10800000">
            <a:off x="3634837" y="1405889"/>
            <a:ext cx="1817418" cy="1954531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79" name="Google Shape;579;p36"/>
          <p:cNvCxnSpPr/>
          <p:nvPr/>
        </p:nvCxnSpPr>
        <p:spPr>
          <a:xfrm flipH="1" rot="10800000">
            <a:off x="3634837" y="2383154"/>
            <a:ext cx="1817418" cy="977266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0" name="Google Shape;580;p36"/>
          <p:cNvCxnSpPr/>
          <p:nvPr/>
        </p:nvCxnSpPr>
        <p:spPr>
          <a:xfrm>
            <a:off x="3634837" y="3360420"/>
            <a:ext cx="1817418" cy="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1" name="Google Shape;581;p36"/>
          <p:cNvCxnSpPr>
            <a:endCxn id="555" idx="2"/>
          </p:cNvCxnSpPr>
          <p:nvPr/>
        </p:nvCxnSpPr>
        <p:spPr>
          <a:xfrm>
            <a:off x="5726620" y="1481946"/>
            <a:ext cx="1929900" cy="83340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2" name="Google Shape;582;p36"/>
          <p:cNvCxnSpPr/>
          <p:nvPr/>
        </p:nvCxnSpPr>
        <p:spPr>
          <a:xfrm flipH="1" rot="10800000">
            <a:off x="5726583" y="2309954"/>
            <a:ext cx="1933200" cy="7320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3" name="Google Shape;583;p36"/>
          <p:cNvCxnSpPr/>
          <p:nvPr/>
        </p:nvCxnSpPr>
        <p:spPr>
          <a:xfrm flipH="1" rot="10800000">
            <a:off x="5726583" y="2317620"/>
            <a:ext cx="1949100" cy="1042800"/>
          </a:xfrm>
          <a:prstGeom prst="straightConnector1">
            <a:avLst/>
          </a:prstGeom>
          <a:noFill/>
          <a:ln cap="flat" cmpd="sng" w="9525">
            <a:solidFill>
              <a:srgbClr val="BAC7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4" name="Google Shape;584;p36"/>
          <p:cNvSpPr/>
          <p:nvPr/>
        </p:nvSpPr>
        <p:spPr>
          <a:xfrm>
            <a:off x="548655" y="3806190"/>
            <a:ext cx="2503237" cy="65151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548655" y="3806190"/>
            <a:ext cx="48007" cy="651510"/>
          </a:xfrm>
          <a:prstGeom prst="rect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6"/>
          <p:cNvSpPr txBox="1"/>
          <p:nvPr/>
        </p:nvSpPr>
        <p:spPr>
          <a:xfrm>
            <a:off x="672102" y="3895344"/>
            <a:ext cx="22837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Entradas</a:t>
            </a:r>
            <a:endParaRPr sz="1100"/>
          </a:p>
        </p:txBody>
      </p:sp>
      <p:sp>
        <p:nvSpPr>
          <p:cNvPr id="587" name="Google Shape;587;p36"/>
          <p:cNvSpPr txBox="1"/>
          <p:nvPr/>
        </p:nvSpPr>
        <p:spPr>
          <a:xfrm>
            <a:off x="672102" y="4162806"/>
            <a:ext cx="2283775" cy="226313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Atributos / features</a:t>
            </a:r>
            <a:endParaRPr sz="1100"/>
          </a:p>
        </p:txBody>
      </p:sp>
      <p:sp>
        <p:nvSpPr>
          <p:cNvPr id="588" name="Google Shape;588;p36"/>
          <p:cNvSpPr/>
          <p:nvPr/>
        </p:nvSpPr>
        <p:spPr>
          <a:xfrm>
            <a:off x="3305644" y="3806190"/>
            <a:ext cx="2503237" cy="65151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6"/>
          <p:cNvSpPr/>
          <p:nvPr/>
        </p:nvSpPr>
        <p:spPr>
          <a:xfrm>
            <a:off x="3305644" y="3806190"/>
            <a:ext cx="48007" cy="65151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6"/>
          <p:cNvSpPr txBox="1"/>
          <p:nvPr/>
        </p:nvSpPr>
        <p:spPr>
          <a:xfrm>
            <a:off x="3429091" y="3895344"/>
            <a:ext cx="22837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Camadas ocultas</a:t>
            </a:r>
            <a:endParaRPr sz="1100"/>
          </a:p>
        </p:txBody>
      </p:sp>
      <p:sp>
        <p:nvSpPr>
          <p:cNvPr id="591" name="Google Shape;591;p36"/>
          <p:cNvSpPr txBox="1"/>
          <p:nvPr/>
        </p:nvSpPr>
        <p:spPr>
          <a:xfrm>
            <a:off x="3429091" y="4162806"/>
            <a:ext cx="2283775" cy="226313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Aprendem combinações de sinais</a:t>
            </a:r>
            <a:endParaRPr sz="1100"/>
          </a:p>
        </p:txBody>
      </p:sp>
      <p:sp>
        <p:nvSpPr>
          <p:cNvPr id="592" name="Google Shape;592;p36"/>
          <p:cNvSpPr/>
          <p:nvPr/>
        </p:nvSpPr>
        <p:spPr>
          <a:xfrm>
            <a:off x="6062634" y="3806190"/>
            <a:ext cx="2503237" cy="65151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6"/>
          <p:cNvSpPr/>
          <p:nvPr/>
        </p:nvSpPr>
        <p:spPr>
          <a:xfrm>
            <a:off x="6062634" y="3806190"/>
            <a:ext cx="48007" cy="65151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6186081" y="3895344"/>
            <a:ext cx="22837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sz="1100"/>
          </a:p>
        </p:txBody>
      </p:sp>
      <p:sp>
        <p:nvSpPr>
          <p:cNvPr id="595" name="Google Shape;595;p36"/>
          <p:cNvSpPr txBox="1"/>
          <p:nvPr/>
        </p:nvSpPr>
        <p:spPr>
          <a:xfrm>
            <a:off x="6186081" y="4162806"/>
            <a:ext cx="2283775" cy="226313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Classe, probabilidade ou valor</a:t>
            </a:r>
            <a:endParaRPr sz="1100"/>
          </a:p>
        </p:txBody>
      </p:sp>
      <p:cxnSp>
        <p:nvCxnSpPr>
          <p:cNvPr id="596" name="Google Shape;596;p36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7" name="Google Shape;597;p36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598" name="Google Shape;598;p36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7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7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Como uma rede aprende</a:t>
            </a:r>
            <a:endParaRPr sz="1100"/>
          </a:p>
        </p:txBody>
      </p:sp>
      <p:sp>
        <p:nvSpPr>
          <p:cNvPr id="605" name="Google Shape;605;p37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 ciclo se repete até a perda melhorar e o desempenho de validação atingir um ponto adequado.</a:t>
            </a:r>
            <a:endParaRPr sz="1100"/>
          </a:p>
        </p:txBody>
      </p:sp>
      <p:sp>
        <p:nvSpPr>
          <p:cNvPr id="606" name="Google Shape;606;p37"/>
          <p:cNvSpPr/>
          <p:nvPr/>
        </p:nvSpPr>
        <p:spPr>
          <a:xfrm>
            <a:off x="548655" y="1405889"/>
            <a:ext cx="1851709" cy="12001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7"/>
          <p:cNvSpPr/>
          <p:nvPr/>
        </p:nvSpPr>
        <p:spPr>
          <a:xfrm>
            <a:off x="672102" y="1529334"/>
            <a:ext cx="274327" cy="274320"/>
          </a:xfrm>
          <a:prstGeom prst="ellipse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7"/>
          <p:cNvSpPr txBox="1"/>
          <p:nvPr/>
        </p:nvSpPr>
        <p:spPr>
          <a:xfrm>
            <a:off x="706393" y="1556766"/>
            <a:ext cx="20574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609" name="Google Shape;609;p37"/>
          <p:cNvSpPr txBox="1"/>
          <p:nvPr/>
        </p:nvSpPr>
        <p:spPr>
          <a:xfrm>
            <a:off x="672102" y="1995678"/>
            <a:ext cx="16116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 sz="1100"/>
          </a:p>
        </p:txBody>
      </p:sp>
      <p:sp>
        <p:nvSpPr>
          <p:cNvPr id="610" name="Google Shape;610;p37"/>
          <p:cNvSpPr txBox="1"/>
          <p:nvPr/>
        </p:nvSpPr>
        <p:spPr>
          <a:xfrm>
            <a:off x="672102" y="2249424"/>
            <a:ext cx="1604815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Entradas atravessam a rede.</a:t>
            </a:r>
            <a:endParaRPr sz="1100"/>
          </a:p>
        </p:txBody>
      </p:sp>
      <p:cxnSp>
        <p:nvCxnSpPr>
          <p:cNvPr id="611" name="Google Shape;611;p37"/>
          <p:cNvCxnSpPr/>
          <p:nvPr/>
        </p:nvCxnSpPr>
        <p:spPr>
          <a:xfrm>
            <a:off x="2414080" y="2009394"/>
            <a:ext cx="205745" cy="0"/>
          </a:xfrm>
          <a:prstGeom prst="straightConnector1">
            <a:avLst/>
          </a:prstGeom>
          <a:noFill/>
          <a:ln cap="flat" cmpd="sng" w="190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2" name="Google Shape;612;p37"/>
          <p:cNvSpPr/>
          <p:nvPr/>
        </p:nvSpPr>
        <p:spPr>
          <a:xfrm rot="5400000">
            <a:off x="2558104" y="1947670"/>
            <a:ext cx="123444" cy="12344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2688408" y="1405889"/>
            <a:ext cx="1851709" cy="12001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7"/>
          <p:cNvSpPr/>
          <p:nvPr/>
        </p:nvSpPr>
        <p:spPr>
          <a:xfrm>
            <a:off x="2811854" y="1529334"/>
            <a:ext cx="274327" cy="274320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7"/>
          <p:cNvSpPr txBox="1"/>
          <p:nvPr/>
        </p:nvSpPr>
        <p:spPr>
          <a:xfrm>
            <a:off x="2846146" y="1556766"/>
            <a:ext cx="20574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616" name="Google Shape;616;p37"/>
          <p:cNvSpPr txBox="1"/>
          <p:nvPr/>
        </p:nvSpPr>
        <p:spPr>
          <a:xfrm>
            <a:off x="2811854" y="1995678"/>
            <a:ext cx="16116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 sz="1100"/>
          </a:p>
        </p:txBody>
      </p:sp>
      <p:sp>
        <p:nvSpPr>
          <p:cNvPr id="617" name="Google Shape;617;p37"/>
          <p:cNvSpPr txBox="1"/>
          <p:nvPr/>
        </p:nvSpPr>
        <p:spPr>
          <a:xfrm>
            <a:off x="2811854" y="2249424"/>
            <a:ext cx="1604815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Predição é comparada ao alvo.</a:t>
            </a:r>
            <a:endParaRPr sz="1100"/>
          </a:p>
        </p:txBody>
      </p:sp>
      <p:cxnSp>
        <p:nvCxnSpPr>
          <p:cNvPr id="618" name="Google Shape;618;p37"/>
          <p:cNvCxnSpPr/>
          <p:nvPr/>
        </p:nvCxnSpPr>
        <p:spPr>
          <a:xfrm>
            <a:off x="4553833" y="2009394"/>
            <a:ext cx="205745" cy="0"/>
          </a:xfrm>
          <a:prstGeom prst="straightConnector1">
            <a:avLst/>
          </a:prstGeom>
          <a:noFill/>
          <a:ln cap="flat" cmpd="sng" w="190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9" name="Google Shape;619;p37"/>
          <p:cNvSpPr/>
          <p:nvPr/>
        </p:nvSpPr>
        <p:spPr>
          <a:xfrm rot="5400000">
            <a:off x="4697857" y="1947670"/>
            <a:ext cx="123444" cy="12344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7"/>
          <p:cNvSpPr/>
          <p:nvPr/>
        </p:nvSpPr>
        <p:spPr>
          <a:xfrm>
            <a:off x="4828161" y="1405889"/>
            <a:ext cx="1851709" cy="12001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7"/>
          <p:cNvSpPr/>
          <p:nvPr/>
        </p:nvSpPr>
        <p:spPr>
          <a:xfrm>
            <a:off x="4951608" y="1529334"/>
            <a:ext cx="274327" cy="274320"/>
          </a:xfrm>
          <a:prstGeom prst="ellipse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7"/>
          <p:cNvSpPr txBox="1"/>
          <p:nvPr/>
        </p:nvSpPr>
        <p:spPr>
          <a:xfrm>
            <a:off x="4985899" y="1556766"/>
            <a:ext cx="20574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623" name="Google Shape;623;p37"/>
          <p:cNvSpPr txBox="1"/>
          <p:nvPr/>
        </p:nvSpPr>
        <p:spPr>
          <a:xfrm>
            <a:off x="4951608" y="1995678"/>
            <a:ext cx="16116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1100"/>
          </a:p>
        </p:txBody>
      </p:sp>
      <p:sp>
        <p:nvSpPr>
          <p:cNvPr id="624" name="Google Shape;624;p37"/>
          <p:cNvSpPr txBox="1"/>
          <p:nvPr/>
        </p:nvSpPr>
        <p:spPr>
          <a:xfrm>
            <a:off x="4951608" y="2249424"/>
            <a:ext cx="1604815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Calcula gradientes dos pesos.</a:t>
            </a:r>
            <a:endParaRPr sz="1100"/>
          </a:p>
        </p:txBody>
      </p:sp>
      <p:cxnSp>
        <p:nvCxnSpPr>
          <p:cNvPr id="625" name="Google Shape;625;p37"/>
          <p:cNvCxnSpPr/>
          <p:nvPr/>
        </p:nvCxnSpPr>
        <p:spPr>
          <a:xfrm>
            <a:off x="6693586" y="2009394"/>
            <a:ext cx="205745" cy="0"/>
          </a:xfrm>
          <a:prstGeom prst="straightConnector1">
            <a:avLst/>
          </a:prstGeom>
          <a:noFill/>
          <a:ln cap="flat" cmpd="sng" w="190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6" name="Google Shape;626;p37"/>
          <p:cNvSpPr/>
          <p:nvPr/>
        </p:nvSpPr>
        <p:spPr>
          <a:xfrm rot="5400000">
            <a:off x="6837610" y="1947670"/>
            <a:ext cx="123444" cy="123447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7"/>
          <p:cNvSpPr/>
          <p:nvPr/>
        </p:nvSpPr>
        <p:spPr>
          <a:xfrm>
            <a:off x="6967914" y="1405889"/>
            <a:ext cx="1851709" cy="12001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7"/>
          <p:cNvSpPr/>
          <p:nvPr/>
        </p:nvSpPr>
        <p:spPr>
          <a:xfrm>
            <a:off x="7091361" y="1529334"/>
            <a:ext cx="274327" cy="274320"/>
          </a:xfrm>
          <a:prstGeom prst="ellipse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7"/>
          <p:cNvSpPr txBox="1"/>
          <p:nvPr/>
        </p:nvSpPr>
        <p:spPr>
          <a:xfrm>
            <a:off x="7125652" y="1556766"/>
            <a:ext cx="20574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630" name="Google Shape;630;p37"/>
          <p:cNvSpPr txBox="1"/>
          <p:nvPr/>
        </p:nvSpPr>
        <p:spPr>
          <a:xfrm>
            <a:off x="7091361" y="1995678"/>
            <a:ext cx="16116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sz="1100"/>
          </a:p>
        </p:txBody>
      </p:sp>
      <p:sp>
        <p:nvSpPr>
          <p:cNvPr id="631" name="Google Shape;631;p37"/>
          <p:cNvSpPr txBox="1"/>
          <p:nvPr/>
        </p:nvSpPr>
        <p:spPr>
          <a:xfrm>
            <a:off x="7091361" y="2249424"/>
            <a:ext cx="1604815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Atualiza os parâmetros.</a:t>
            </a:r>
            <a:endParaRPr sz="1100"/>
          </a:p>
        </p:txBody>
      </p:sp>
      <p:cxnSp>
        <p:nvCxnSpPr>
          <p:cNvPr id="632" name="Google Shape;632;p37"/>
          <p:cNvCxnSpPr/>
          <p:nvPr/>
        </p:nvCxnSpPr>
        <p:spPr>
          <a:xfrm rot="10800000">
            <a:off x="1371637" y="2894076"/>
            <a:ext cx="5795164" cy="0"/>
          </a:xfrm>
          <a:prstGeom prst="straightConnector1">
            <a:avLst/>
          </a:prstGeom>
          <a:noFill/>
          <a:ln cap="flat" cmpd="sng" w="20300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3" name="Google Shape;633;p37"/>
          <p:cNvSpPr/>
          <p:nvPr/>
        </p:nvSpPr>
        <p:spPr>
          <a:xfrm rot="-5400000">
            <a:off x="1309915" y="2832352"/>
            <a:ext cx="123444" cy="123447"/>
          </a:xfrm>
          <a:prstGeom prst="triangle">
            <a:avLst>
              <a:gd fmla="val 50000" name="adj"/>
            </a:avLst>
          </a:prstGeom>
          <a:solidFill>
            <a:srgbClr val="E160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7"/>
          <p:cNvSpPr txBox="1"/>
          <p:nvPr/>
        </p:nvSpPr>
        <p:spPr>
          <a:xfrm>
            <a:off x="2331782" y="2983229"/>
            <a:ext cx="3840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E16071"/>
                </a:solidFill>
                <a:latin typeface="Arial"/>
                <a:ea typeface="Arial"/>
                <a:cs typeface="Arial"/>
                <a:sym typeface="Arial"/>
              </a:rPr>
              <a:t>Repetir por batches e epochs</a:t>
            </a:r>
            <a:endParaRPr sz="1100"/>
          </a:p>
        </p:txBody>
      </p:sp>
      <p:sp>
        <p:nvSpPr>
          <p:cNvPr id="635" name="Google Shape;635;p37"/>
          <p:cNvSpPr/>
          <p:nvPr/>
        </p:nvSpPr>
        <p:spPr>
          <a:xfrm>
            <a:off x="582946" y="3449574"/>
            <a:ext cx="2503237" cy="7200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7"/>
          <p:cNvSpPr/>
          <p:nvPr/>
        </p:nvSpPr>
        <p:spPr>
          <a:xfrm>
            <a:off x="582946" y="3449574"/>
            <a:ext cx="48007" cy="72009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7"/>
          <p:cNvSpPr txBox="1"/>
          <p:nvPr/>
        </p:nvSpPr>
        <p:spPr>
          <a:xfrm>
            <a:off x="706393" y="3538728"/>
            <a:ext cx="22837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sz="1100"/>
          </a:p>
        </p:txBody>
      </p:sp>
      <p:sp>
        <p:nvSpPr>
          <p:cNvPr id="638" name="Google Shape;638;p37"/>
          <p:cNvSpPr txBox="1"/>
          <p:nvPr/>
        </p:nvSpPr>
        <p:spPr>
          <a:xfrm>
            <a:off x="706393" y="3806190"/>
            <a:ext cx="2283775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Passo de atualização dos pesos.</a:t>
            </a:r>
            <a:endParaRPr sz="1100"/>
          </a:p>
        </p:txBody>
      </p:sp>
      <p:sp>
        <p:nvSpPr>
          <p:cNvPr id="639" name="Google Shape;639;p37"/>
          <p:cNvSpPr/>
          <p:nvPr/>
        </p:nvSpPr>
        <p:spPr>
          <a:xfrm>
            <a:off x="3326219" y="3449574"/>
            <a:ext cx="2503237" cy="7200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7"/>
          <p:cNvSpPr/>
          <p:nvPr/>
        </p:nvSpPr>
        <p:spPr>
          <a:xfrm>
            <a:off x="3326219" y="3449574"/>
            <a:ext cx="48007" cy="720090"/>
          </a:xfrm>
          <a:prstGeom prst="rect">
            <a:avLst/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7"/>
          <p:cNvSpPr txBox="1"/>
          <p:nvPr/>
        </p:nvSpPr>
        <p:spPr>
          <a:xfrm>
            <a:off x="3449665" y="3538728"/>
            <a:ext cx="22837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sz="1100"/>
          </a:p>
        </p:txBody>
      </p:sp>
      <p:sp>
        <p:nvSpPr>
          <p:cNvPr id="642" name="Google Shape;642;p37"/>
          <p:cNvSpPr txBox="1"/>
          <p:nvPr/>
        </p:nvSpPr>
        <p:spPr>
          <a:xfrm>
            <a:off x="3449665" y="3806190"/>
            <a:ext cx="2283775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Exemplos usados por atualização.</a:t>
            </a:r>
            <a:endParaRPr sz="1100"/>
          </a:p>
        </p:txBody>
      </p:sp>
      <p:sp>
        <p:nvSpPr>
          <p:cNvPr id="643" name="Google Shape;643;p37"/>
          <p:cNvSpPr/>
          <p:nvPr/>
        </p:nvSpPr>
        <p:spPr>
          <a:xfrm>
            <a:off x="6069492" y="3449574"/>
            <a:ext cx="2503237" cy="72009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6069492" y="3449574"/>
            <a:ext cx="48007" cy="72009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7"/>
          <p:cNvSpPr txBox="1"/>
          <p:nvPr/>
        </p:nvSpPr>
        <p:spPr>
          <a:xfrm>
            <a:off x="6192938" y="3538728"/>
            <a:ext cx="22837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Epoch</a:t>
            </a:r>
            <a:endParaRPr sz="1100"/>
          </a:p>
        </p:txBody>
      </p:sp>
      <p:sp>
        <p:nvSpPr>
          <p:cNvPr id="646" name="Google Shape;646;p37"/>
          <p:cNvSpPr txBox="1"/>
          <p:nvPr/>
        </p:nvSpPr>
        <p:spPr>
          <a:xfrm>
            <a:off x="6192938" y="3806190"/>
            <a:ext cx="2283775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Uma passagem por todo o treino.</a:t>
            </a:r>
            <a:endParaRPr sz="1100"/>
          </a:p>
        </p:txBody>
      </p:sp>
      <p:cxnSp>
        <p:nvCxnSpPr>
          <p:cNvPr id="647" name="Google Shape;647;p37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8" name="Google Shape;648;p37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649" name="Google Shape;649;p37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8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8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CNN: da imagem à representação útil</a:t>
            </a:r>
            <a:endParaRPr sz="1100"/>
          </a:p>
        </p:txBody>
      </p:sp>
      <p:sp>
        <p:nvSpPr>
          <p:cNvPr id="656" name="Google Shape;656;p38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Convolução detecta padrões locais; camadas sucessivas combinam esses padrões em representações mais abstratas.</a:t>
            </a:r>
            <a:endParaRPr sz="1100"/>
          </a:p>
        </p:txBody>
      </p:sp>
      <p:sp>
        <p:nvSpPr>
          <p:cNvPr id="657" name="Google Shape;657;p38"/>
          <p:cNvSpPr/>
          <p:nvPr/>
        </p:nvSpPr>
        <p:spPr>
          <a:xfrm>
            <a:off x="562371" y="1234440"/>
            <a:ext cx="1680255" cy="23317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8"/>
          <p:cNvSpPr txBox="1"/>
          <p:nvPr/>
        </p:nvSpPr>
        <p:spPr>
          <a:xfrm>
            <a:off x="699535" y="1371600"/>
            <a:ext cx="137163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Imagem de entrada</a:t>
            </a:r>
            <a:endParaRPr sz="1100"/>
          </a:p>
        </p:txBody>
      </p:sp>
      <p:sp>
        <p:nvSpPr>
          <p:cNvPr id="659" name="Google Shape;659;p38"/>
          <p:cNvSpPr/>
          <p:nvPr/>
        </p:nvSpPr>
        <p:spPr>
          <a:xfrm>
            <a:off x="774974" y="1748790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8"/>
          <p:cNvSpPr/>
          <p:nvPr/>
        </p:nvSpPr>
        <p:spPr>
          <a:xfrm>
            <a:off x="1008153" y="1748790"/>
            <a:ext cx="212604" cy="212598"/>
          </a:xfrm>
          <a:prstGeom prst="rect">
            <a:avLst/>
          </a:prstGeom>
          <a:solidFill>
            <a:srgbClr val="387D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8"/>
          <p:cNvSpPr/>
          <p:nvPr/>
        </p:nvSpPr>
        <p:spPr>
          <a:xfrm>
            <a:off x="1241331" y="1748790"/>
            <a:ext cx="212604" cy="212598"/>
          </a:xfrm>
          <a:prstGeom prst="rect">
            <a:avLst/>
          </a:prstGeom>
          <a:solidFill>
            <a:srgbClr val="70BFC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8"/>
          <p:cNvSpPr/>
          <p:nvPr/>
        </p:nvSpPr>
        <p:spPr>
          <a:xfrm>
            <a:off x="1474509" y="1748790"/>
            <a:ext cx="212604" cy="212598"/>
          </a:xfrm>
          <a:prstGeom prst="rect">
            <a:avLst/>
          </a:prstGeom>
          <a:solidFill>
            <a:srgbClr val="B8D8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8"/>
          <p:cNvSpPr/>
          <p:nvPr/>
        </p:nvSpPr>
        <p:spPr>
          <a:xfrm>
            <a:off x="1707688" y="1748790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774974" y="1981961"/>
            <a:ext cx="212604" cy="212598"/>
          </a:xfrm>
          <a:prstGeom prst="rect">
            <a:avLst/>
          </a:prstGeom>
          <a:solidFill>
            <a:srgbClr val="70BFC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8"/>
          <p:cNvSpPr/>
          <p:nvPr/>
        </p:nvSpPr>
        <p:spPr>
          <a:xfrm>
            <a:off x="1008153" y="1981961"/>
            <a:ext cx="212604" cy="212598"/>
          </a:xfrm>
          <a:prstGeom prst="rect">
            <a:avLst/>
          </a:prstGeom>
          <a:solidFill>
            <a:srgbClr val="B8D8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8"/>
          <p:cNvSpPr/>
          <p:nvPr/>
        </p:nvSpPr>
        <p:spPr>
          <a:xfrm>
            <a:off x="1241331" y="1981961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1474509" y="1981961"/>
            <a:ext cx="212604" cy="212598"/>
          </a:xfrm>
          <a:prstGeom prst="rect">
            <a:avLst/>
          </a:prstGeom>
          <a:solidFill>
            <a:srgbClr val="387D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8"/>
          <p:cNvSpPr/>
          <p:nvPr/>
        </p:nvSpPr>
        <p:spPr>
          <a:xfrm>
            <a:off x="1707688" y="1981961"/>
            <a:ext cx="212604" cy="212598"/>
          </a:xfrm>
          <a:prstGeom prst="rect">
            <a:avLst/>
          </a:prstGeom>
          <a:solidFill>
            <a:srgbClr val="70BFC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774974" y="2215134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1008153" y="2215134"/>
            <a:ext cx="212604" cy="212598"/>
          </a:xfrm>
          <a:prstGeom prst="rect">
            <a:avLst/>
          </a:prstGeom>
          <a:solidFill>
            <a:srgbClr val="387D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1241331" y="2215134"/>
            <a:ext cx="212604" cy="212598"/>
          </a:xfrm>
          <a:prstGeom prst="rect">
            <a:avLst/>
          </a:prstGeom>
          <a:solidFill>
            <a:srgbClr val="70BFC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1474509" y="2215134"/>
            <a:ext cx="212604" cy="212598"/>
          </a:xfrm>
          <a:prstGeom prst="rect">
            <a:avLst/>
          </a:prstGeom>
          <a:solidFill>
            <a:srgbClr val="B8D8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1707688" y="2215134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774974" y="2448306"/>
            <a:ext cx="212604" cy="212598"/>
          </a:xfrm>
          <a:prstGeom prst="rect">
            <a:avLst/>
          </a:prstGeom>
          <a:solidFill>
            <a:srgbClr val="70BFC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1008153" y="2448306"/>
            <a:ext cx="212604" cy="212598"/>
          </a:xfrm>
          <a:prstGeom prst="rect">
            <a:avLst/>
          </a:prstGeom>
          <a:solidFill>
            <a:srgbClr val="B8D8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1241331" y="2448306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1474509" y="2448306"/>
            <a:ext cx="212604" cy="212598"/>
          </a:xfrm>
          <a:prstGeom prst="rect">
            <a:avLst/>
          </a:prstGeom>
          <a:solidFill>
            <a:srgbClr val="387D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1707688" y="2448306"/>
            <a:ext cx="212604" cy="212598"/>
          </a:xfrm>
          <a:prstGeom prst="rect">
            <a:avLst/>
          </a:prstGeom>
          <a:solidFill>
            <a:srgbClr val="70BFC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8"/>
          <p:cNvSpPr/>
          <p:nvPr/>
        </p:nvSpPr>
        <p:spPr>
          <a:xfrm>
            <a:off x="774974" y="2681478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1008153" y="2681478"/>
            <a:ext cx="212604" cy="212598"/>
          </a:xfrm>
          <a:prstGeom prst="rect">
            <a:avLst/>
          </a:prstGeom>
          <a:solidFill>
            <a:srgbClr val="387D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1241331" y="2681478"/>
            <a:ext cx="212604" cy="212598"/>
          </a:xfrm>
          <a:prstGeom prst="rect">
            <a:avLst/>
          </a:prstGeom>
          <a:solidFill>
            <a:srgbClr val="70BFC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1474509" y="2681478"/>
            <a:ext cx="212604" cy="212598"/>
          </a:xfrm>
          <a:prstGeom prst="rect">
            <a:avLst/>
          </a:prstGeom>
          <a:solidFill>
            <a:srgbClr val="B8D8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8"/>
          <p:cNvSpPr/>
          <p:nvPr/>
        </p:nvSpPr>
        <p:spPr>
          <a:xfrm>
            <a:off x="1707688" y="2681478"/>
            <a:ext cx="212604" cy="212598"/>
          </a:xfrm>
          <a:prstGeom prst="rect">
            <a:avLst/>
          </a:prstGeom>
          <a:solidFill>
            <a:srgbClr val="DDE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8"/>
          <p:cNvSpPr/>
          <p:nvPr/>
        </p:nvSpPr>
        <p:spPr>
          <a:xfrm>
            <a:off x="2606109" y="1741932"/>
            <a:ext cx="1028727" cy="1062990"/>
          </a:xfrm>
          <a:prstGeom prst="roundRect">
            <a:avLst>
              <a:gd fmla="val 12000" name="adj"/>
            </a:avLst>
          </a:prstGeom>
          <a:solidFill>
            <a:srgbClr val="FFF3DF"/>
          </a:solidFill>
          <a:ln cap="flat" cmpd="sng" w="10150">
            <a:solidFill>
              <a:srgbClr val="F5A7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8"/>
          <p:cNvSpPr txBox="1"/>
          <p:nvPr/>
        </p:nvSpPr>
        <p:spPr>
          <a:xfrm>
            <a:off x="2708982" y="1851660"/>
            <a:ext cx="82298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Filtro</a:t>
            </a:r>
            <a:endParaRPr sz="1100"/>
          </a:p>
        </p:txBody>
      </p:sp>
      <p:sp>
        <p:nvSpPr>
          <p:cNvPr id="686" name="Google Shape;686;p38"/>
          <p:cNvSpPr/>
          <p:nvPr/>
        </p:nvSpPr>
        <p:spPr>
          <a:xfrm>
            <a:off x="2756989" y="2112264"/>
            <a:ext cx="185171" cy="144018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2969592" y="2112264"/>
            <a:ext cx="185171" cy="144018"/>
          </a:xfrm>
          <a:prstGeom prst="rect">
            <a:avLst/>
          </a:prstGeom>
          <a:solidFill>
            <a:srgbClr val="FBE2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3182197" y="2112264"/>
            <a:ext cx="185171" cy="144018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2756989" y="2283714"/>
            <a:ext cx="185171" cy="144018"/>
          </a:xfrm>
          <a:prstGeom prst="rect">
            <a:avLst/>
          </a:prstGeom>
          <a:solidFill>
            <a:srgbClr val="FBE2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8"/>
          <p:cNvSpPr/>
          <p:nvPr/>
        </p:nvSpPr>
        <p:spPr>
          <a:xfrm>
            <a:off x="2969592" y="2283714"/>
            <a:ext cx="185171" cy="144018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8"/>
          <p:cNvSpPr/>
          <p:nvPr/>
        </p:nvSpPr>
        <p:spPr>
          <a:xfrm>
            <a:off x="3182197" y="2283714"/>
            <a:ext cx="185171" cy="144018"/>
          </a:xfrm>
          <a:prstGeom prst="rect">
            <a:avLst/>
          </a:prstGeom>
          <a:solidFill>
            <a:srgbClr val="FBE2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8"/>
          <p:cNvSpPr/>
          <p:nvPr/>
        </p:nvSpPr>
        <p:spPr>
          <a:xfrm>
            <a:off x="2756989" y="2455164"/>
            <a:ext cx="185171" cy="144018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8"/>
          <p:cNvSpPr/>
          <p:nvPr/>
        </p:nvSpPr>
        <p:spPr>
          <a:xfrm>
            <a:off x="2969592" y="2455164"/>
            <a:ext cx="185171" cy="144018"/>
          </a:xfrm>
          <a:prstGeom prst="rect">
            <a:avLst/>
          </a:prstGeom>
          <a:solidFill>
            <a:srgbClr val="FBE2B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8"/>
          <p:cNvSpPr/>
          <p:nvPr/>
        </p:nvSpPr>
        <p:spPr>
          <a:xfrm>
            <a:off x="3182197" y="2455164"/>
            <a:ext cx="185171" cy="144018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5" name="Google Shape;695;p38"/>
          <p:cNvCxnSpPr/>
          <p:nvPr/>
        </p:nvCxnSpPr>
        <p:spPr>
          <a:xfrm flipH="1" rot="10800000">
            <a:off x="2276917" y="2263140"/>
            <a:ext cx="294902" cy="205740"/>
          </a:xfrm>
          <a:prstGeom prst="straightConnector1">
            <a:avLst/>
          </a:prstGeom>
          <a:noFill/>
          <a:ln cap="flat" cmpd="sng" w="22850">
            <a:solidFill>
              <a:srgbClr val="F5A7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96" name="Google Shape;696;p38"/>
          <p:cNvSpPr/>
          <p:nvPr/>
        </p:nvSpPr>
        <p:spPr>
          <a:xfrm rot="3305807">
            <a:off x="2503923" y="2195244"/>
            <a:ext cx="135789" cy="135791"/>
          </a:xfrm>
          <a:prstGeom prst="triangle">
            <a:avLst>
              <a:gd fmla="val 50000" name="adj"/>
            </a:avLst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8"/>
          <p:cNvSpPr/>
          <p:nvPr/>
        </p:nvSpPr>
        <p:spPr>
          <a:xfrm>
            <a:off x="4080619" y="1474470"/>
            <a:ext cx="1543091" cy="2057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8"/>
          <p:cNvSpPr txBox="1"/>
          <p:nvPr/>
        </p:nvSpPr>
        <p:spPr>
          <a:xfrm>
            <a:off x="4217782" y="1611630"/>
            <a:ext cx="13030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Feature map</a:t>
            </a:r>
            <a:endParaRPr sz="1100"/>
          </a:p>
        </p:txBody>
      </p:sp>
      <p:sp>
        <p:nvSpPr>
          <p:cNvPr id="699" name="Google Shape;699;p38"/>
          <p:cNvSpPr/>
          <p:nvPr/>
        </p:nvSpPr>
        <p:spPr>
          <a:xfrm>
            <a:off x="4354946" y="1988820"/>
            <a:ext cx="219462" cy="219456"/>
          </a:xfrm>
          <a:prstGeom prst="rect">
            <a:avLst/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8"/>
          <p:cNvSpPr/>
          <p:nvPr/>
        </p:nvSpPr>
        <p:spPr>
          <a:xfrm>
            <a:off x="4601841" y="1988820"/>
            <a:ext cx="219462" cy="219456"/>
          </a:xfrm>
          <a:prstGeom prst="rect">
            <a:avLst/>
          </a:prstGeom>
          <a:solidFill>
            <a:srgbClr val="58C4B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8"/>
          <p:cNvSpPr/>
          <p:nvPr/>
        </p:nvSpPr>
        <p:spPr>
          <a:xfrm>
            <a:off x="4848735" y="1988820"/>
            <a:ext cx="219462" cy="219456"/>
          </a:xfrm>
          <a:prstGeom prst="rect">
            <a:avLst/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8"/>
          <p:cNvSpPr/>
          <p:nvPr/>
        </p:nvSpPr>
        <p:spPr>
          <a:xfrm>
            <a:off x="5095630" y="1988820"/>
            <a:ext cx="219462" cy="219456"/>
          </a:xfrm>
          <a:prstGeom prst="rect">
            <a:avLst/>
          </a:prstGeom>
          <a:solidFill>
            <a:srgbClr val="58C4B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8"/>
          <p:cNvSpPr/>
          <p:nvPr/>
        </p:nvSpPr>
        <p:spPr>
          <a:xfrm>
            <a:off x="4354946" y="2235708"/>
            <a:ext cx="219462" cy="219456"/>
          </a:xfrm>
          <a:prstGeom prst="rect">
            <a:avLst/>
          </a:prstGeom>
          <a:solidFill>
            <a:srgbClr val="A7E2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8"/>
          <p:cNvSpPr/>
          <p:nvPr/>
        </p:nvSpPr>
        <p:spPr>
          <a:xfrm>
            <a:off x="4601841" y="2235708"/>
            <a:ext cx="219462" cy="219456"/>
          </a:xfrm>
          <a:prstGeom prst="rect">
            <a:avLst/>
          </a:prstGeom>
          <a:solidFill>
            <a:srgbClr val="168F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8"/>
          <p:cNvSpPr/>
          <p:nvPr/>
        </p:nvSpPr>
        <p:spPr>
          <a:xfrm>
            <a:off x="4848735" y="2235708"/>
            <a:ext cx="219462" cy="219456"/>
          </a:xfrm>
          <a:prstGeom prst="rect">
            <a:avLst/>
          </a:prstGeom>
          <a:solidFill>
            <a:srgbClr val="A7E2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8"/>
          <p:cNvSpPr/>
          <p:nvPr/>
        </p:nvSpPr>
        <p:spPr>
          <a:xfrm>
            <a:off x="5095630" y="2235708"/>
            <a:ext cx="219462" cy="219456"/>
          </a:xfrm>
          <a:prstGeom prst="rect">
            <a:avLst/>
          </a:prstGeom>
          <a:solidFill>
            <a:srgbClr val="168F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8"/>
          <p:cNvSpPr/>
          <p:nvPr/>
        </p:nvSpPr>
        <p:spPr>
          <a:xfrm>
            <a:off x="4354946" y="2482596"/>
            <a:ext cx="219462" cy="219456"/>
          </a:xfrm>
          <a:prstGeom prst="rect">
            <a:avLst/>
          </a:prstGeom>
          <a:solidFill>
            <a:srgbClr val="58C4B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4601841" y="2482596"/>
            <a:ext cx="219462" cy="219456"/>
          </a:xfrm>
          <a:prstGeom prst="rect">
            <a:avLst/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8"/>
          <p:cNvSpPr/>
          <p:nvPr/>
        </p:nvSpPr>
        <p:spPr>
          <a:xfrm>
            <a:off x="4848735" y="2482596"/>
            <a:ext cx="219462" cy="219456"/>
          </a:xfrm>
          <a:prstGeom prst="rect">
            <a:avLst/>
          </a:prstGeom>
          <a:solidFill>
            <a:srgbClr val="58C4B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8"/>
          <p:cNvSpPr/>
          <p:nvPr/>
        </p:nvSpPr>
        <p:spPr>
          <a:xfrm>
            <a:off x="5095630" y="2482596"/>
            <a:ext cx="219462" cy="219456"/>
          </a:xfrm>
          <a:prstGeom prst="rect">
            <a:avLst/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8"/>
          <p:cNvSpPr/>
          <p:nvPr/>
        </p:nvSpPr>
        <p:spPr>
          <a:xfrm>
            <a:off x="4354946" y="2729484"/>
            <a:ext cx="219462" cy="219456"/>
          </a:xfrm>
          <a:prstGeom prst="rect">
            <a:avLst/>
          </a:prstGeom>
          <a:solidFill>
            <a:srgbClr val="168F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8"/>
          <p:cNvSpPr/>
          <p:nvPr/>
        </p:nvSpPr>
        <p:spPr>
          <a:xfrm>
            <a:off x="4601841" y="2729484"/>
            <a:ext cx="219462" cy="219456"/>
          </a:xfrm>
          <a:prstGeom prst="rect">
            <a:avLst/>
          </a:prstGeom>
          <a:solidFill>
            <a:srgbClr val="A7E2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8"/>
          <p:cNvSpPr/>
          <p:nvPr/>
        </p:nvSpPr>
        <p:spPr>
          <a:xfrm>
            <a:off x="4848735" y="2729484"/>
            <a:ext cx="219462" cy="219456"/>
          </a:xfrm>
          <a:prstGeom prst="rect">
            <a:avLst/>
          </a:prstGeom>
          <a:solidFill>
            <a:srgbClr val="168F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5095630" y="2729484"/>
            <a:ext cx="219462" cy="219456"/>
          </a:xfrm>
          <a:prstGeom prst="rect">
            <a:avLst/>
          </a:prstGeom>
          <a:solidFill>
            <a:srgbClr val="A7E2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5" name="Google Shape;715;p38"/>
          <p:cNvCxnSpPr/>
          <p:nvPr/>
        </p:nvCxnSpPr>
        <p:spPr>
          <a:xfrm>
            <a:off x="3682844" y="2297430"/>
            <a:ext cx="349767" cy="0"/>
          </a:xfrm>
          <a:prstGeom prst="straightConnector1">
            <a:avLst/>
          </a:prstGeom>
          <a:noFill/>
          <a:ln cap="flat" cmpd="sng" w="228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16" name="Google Shape;716;p38"/>
          <p:cNvSpPr/>
          <p:nvPr/>
        </p:nvSpPr>
        <p:spPr>
          <a:xfrm rot="5400000">
            <a:off x="3964717" y="2229534"/>
            <a:ext cx="135788" cy="135792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7" name="Google Shape;717;p38"/>
          <p:cNvCxnSpPr/>
          <p:nvPr/>
        </p:nvCxnSpPr>
        <p:spPr>
          <a:xfrm>
            <a:off x="5658001" y="2297430"/>
            <a:ext cx="390916" cy="0"/>
          </a:xfrm>
          <a:prstGeom prst="straightConnector1">
            <a:avLst/>
          </a:prstGeom>
          <a:noFill/>
          <a:ln cap="flat" cmpd="sng" w="2285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18" name="Google Shape;718;p38"/>
          <p:cNvSpPr/>
          <p:nvPr/>
        </p:nvSpPr>
        <p:spPr>
          <a:xfrm rot="5400000">
            <a:off x="5981023" y="2229534"/>
            <a:ext cx="135788" cy="135792"/>
          </a:xfrm>
          <a:prstGeom prst="triangle">
            <a:avLst>
              <a:gd fmla="val 50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8"/>
          <p:cNvSpPr/>
          <p:nvPr/>
        </p:nvSpPr>
        <p:spPr>
          <a:xfrm>
            <a:off x="6103783" y="1508760"/>
            <a:ext cx="2228909" cy="1988820"/>
          </a:xfrm>
          <a:prstGeom prst="roundRect">
            <a:avLst>
              <a:gd fmla="val 12000" name="adj"/>
            </a:avLst>
          </a:prstGeom>
          <a:solidFill>
            <a:srgbClr val="101B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8"/>
          <p:cNvSpPr txBox="1"/>
          <p:nvPr/>
        </p:nvSpPr>
        <p:spPr>
          <a:xfrm>
            <a:off x="6295812" y="1700784"/>
            <a:ext cx="18517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Blocos típicos</a:t>
            </a:r>
            <a:endParaRPr sz="1100"/>
          </a:p>
        </p:txBody>
      </p:sp>
      <p:sp>
        <p:nvSpPr>
          <p:cNvPr id="721" name="Google Shape;721;p38"/>
          <p:cNvSpPr/>
          <p:nvPr/>
        </p:nvSpPr>
        <p:spPr>
          <a:xfrm>
            <a:off x="6343819" y="2023110"/>
            <a:ext cx="1714546" cy="219456"/>
          </a:xfrm>
          <a:prstGeom prst="roundRect">
            <a:avLst>
              <a:gd fmla="val 12000" name="adj"/>
            </a:avLst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8"/>
          <p:cNvSpPr txBox="1"/>
          <p:nvPr/>
        </p:nvSpPr>
        <p:spPr>
          <a:xfrm>
            <a:off x="6412401" y="2047113"/>
            <a:ext cx="157738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Convolução</a:t>
            </a:r>
            <a:endParaRPr sz="1100"/>
          </a:p>
        </p:txBody>
      </p:sp>
      <p:sp>
        <p:nvSpPr>
          <p:cNvPr id="723" name="Google Shape;723;p38"/>
          <p:cNvSpPr/>
          <p:nvPr/>
        </p:nvSpPr>
        <p:spPr>
          <a:xfrm>
            <a:off x="6343819" y="2338578"/>
            <a:ext cx="1714546" cy="219456"/>
          </a:xfrm>
          <a:prstGeom prst="roundRect">
            <a:avLst>
              <a:gd fmla="val 12000" name="adj"/>
            </a:avLst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8"/>
          <p:cNvSpPr txBox="1"/>
          <p:nvPr/>
        </p:nvSpPr>
        <p:spPr>
          <a:xfrm>
            <a:off x="6412401" y="2362581"/>
            <a:ext cx="157738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Ativação</a:t>
            </a:r>
            <a:endParaRPr sz="1100"/>
          </a:p>
        </p:txBody>
      </p:sp>
      <p:sp>
        <p:nvSpPr>
          <p:cNvPr id="725" name="Google Shape;725;p38"/>
          <p:cNvSpPr/>
          <p:nvPr/>
        </p:nvSpPr>
        <p:spPr>
          <a:xfrm>
            <a:off x="6343819" y="2654046"/>
            <a:ext cx="1714546" cy="219456"/>
          </a:xfrm>
          <a:prstGeom prst="roundRect">
            <a:avLst>
              <a:gd fmla="val 12000" name="adj"/>
            </a:avLst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8"/>
          <p:cNvSpPr txBox="1"/>
          <p:nvPr/>
        </p:nvSpPr>
        <p:spPr>
          <a:xfrm>
            <a:off x="6412401" y="2678049"/>
            <a:ext cx="157738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Pooling (opcional)</a:t>
            </a:r>
            <a:endParaRPr sz="1100"/>
          </a:p>
        </p:txBody>
      </p:sp>
      <p:sp>
        <p:nvSpPr>
          <p:cNvPr id="727" name="Google Shape;727;p38"/>
          <p:cNvSpPr/>
          <p:nvPr/>
        </p:nvSpPr>
        <p:spPr>
          <a:xfrm>
            <a:off x="6343819" y="2969514"/>
            <a:ext cx="1714546" cy="219456"/>
          </a:xfrm>
          <a:prstGeom prst="roundRect">
            <a:avLst>
              <a:gd fmla="val 12000" name="adj"/>
            </a:avLst>
          </a:prstGeom>
          <a:solidFill>
            <a:srgbClr val="315C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8"/>
          <p:cNvSpPr txBox="1"/>
          <p:nvPr/>
        </p:nvSpPr>
        <p:spPr>
          <a:xfrm>
            <a:off x="6412401" y="2993517"/>
            <a:ext cx="157738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Camada de saída</a:t>
            </a:r>
            <a:endParaRPr sz="1100"/>
          </a:p>
        </p:txBody>
      </p:sp>
      <p:sp>
        <p:nvSpPr>
          <p:cNvPr id="729" name="Google Shape;729;p38"/>
          <p:cNvSpPr/>
          <p:nvPr/>
        </p:nvSpPr>
        <p:spPr>
          <a:xfrm>
            <a:off x="617236" y="3977640"/>
            <a:ext cx="7646874" cy="377190"/>
          </a:xfrm>
          <a:prstGeom prst="roundRect">
            <a:avLst>
              <a:gd fmla="val 12000" name="adj"/>
            </a:avLst>
          </a:prstGeom>
          <a:solidFill>
            <a:srgbClr val="E3F7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8"/>
          <p:cNvSpPr txBox="1"/>
          <p:nvPr/>
        </p:nvSpPr>
        <p:spPr>
          <a:xfrm>
            <a:off x="788691" y="4059936"/>
            <a:ext cx="730396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Filtros iniciais podem responder a bordas/texturas; camadas profundas combinam sinais mais complexos.</a:t>
            </a:r>
            <a:endParaRPr sz="1100"/>
          </a:p>
        </p:txBody>
      </p:sp>
      <p:cxnSp>
        <p:nvCxnSpPr>
          <p:cNvPr id="731" name="Google Shape;731;p38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32" name="Google Shape;732;p38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733" name="Google Shape;733;p38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9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9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Generalização: ajuste bom, insuficiente ou excessivo</a:t>
            </a:r>
            <a:endParaRPr sz="1100"/>
          </a:p>
        </p:txBody>
      </p:sp>
      <p:sp>
        <p:nvSpPr>
          <p:cNvPr id="740" name="Google Shape;740;p39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Compare desempenho no treino e em dados não vistos durante o ajuste.</a:t>
            </a:r>
            <a:endParaRPr sz="1100"/>
          </a:p>
        </p:txBody>
      </p:sp>
      <p:sp>
        <p:nvSpPr>
          <p:cNvPr id="741" name="Google Shape;741;p39"/>
          <p:cNvSpPr/>
          <p:nvPr/>
        </p:nvSpPr>
        <p:spPr>
          <a:xfrm>
            <a:off x="548655" y="1062990"/>
            <a:ext cx="4937892" cy="339471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9"/>
          <p:cNvSpPr txBox="1"/>
          <p:nvPr/>
        </p:nvSpPr>
        <p:spPr>
          <a:xfrm>
            <a:off x="720109" y="1213866"/>
            <a:ext cx="445781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Erro ao longo das épocas (exemplo ilustrativo)</a:t>
            </a:r>
            <a:endParaRPr sz="1100"/>
          </a:p>
        </p:txBody>
      </p:sp>
      <p:cxnSp>
        <p:nvCxnSpPr>
          <p:cNvPr id="743" name="Google Shape;743;p39"/>
          <p:cNvCxnSpPr/>
          <p:nvPr/>
        </p:nvCxnSpPr>
        <p:spPr>
          <a:xfrm>
            <a:off x="994437" y="3943350"/>
            <a:ext cx="4183492" cy="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44" name="Google Shape;744;p39"/>
          <p:cNvCxnSpPr/>
          <p:nvPr/>
        </p:nvCxnSpPr>
        <p:spPr>
          <a:xfrm rot="10800000">
            <a:off x="994437" y="1680210"/>
            <a:ext cx="0" cy="226314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45" name="Google Shape;745;p39"/>
          <p:cNvSpPr txBox="1"/>
          <p:nvPr/>
        </p:nvSpPr>
        <p:spPr>
          <a:xfrm rot="-5400000">
            <a:off x="699537" y="2606033"/>
            <a:ext cx="205740" cy="54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Erro</a:t>
            </a:r>
            <a:endParaRPr sz="1100"/>
          </a:p>
        </p:txBody>
      </p:sp>
      <p:sp>
        <p:nvSpPr>
          <p:cNvPr id="746" name="Google Shape;746;p39"/>
          <p:cNvSpPr txBox="1"/>
          <p:nvPr/>
        </p:nvSpPr>
        <p:spPr>
          <a:xfrm>
            <a:off x="2674691" y="4101084"/>
            <a:ext cx="1508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Épocas →</a:t>
            </a:r>
            <a:endParaRPr sz="1100"/>
          </a:p>
        </p:txBody>
      </p:sp>
      <p:cxnSp>
        <p:nvCxnSpPr>
          <p:cNvPr id="747" name="Google Shape;747;p39"/>
          <p:cNvCxnSpPr/>
          <p:nvPr/>
        </p:nvCxnSpPr>
        <p:spPr>
          <a:xfrm flipH="1" rot="10800000">
            <a:off x="994437" y="3429000"/>
            <a:ext cx="356626" cy="30861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48" name="Google Shape;748;p39"/>
          <p:cNvCxnSpPr/>
          <p:nvPr/>
        </p:nvCxnSpPr>
        <p:spPr>
          <a:xfrm flipH="1" rot="10800000">
            <a:off x="1351062" y="3120390"/>
            <a:ext cx="356626" cy="30861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49" name="Google Shape;749;p39"/>
          <p:cNvCxnSpPr/>
          <p:nvPr/>
        </p:nvCxnSpPr>
        <p:spPr>
          <a:xfrm flipH="1" rot="10800000">
            <a:off x="1707688" y="2846070"/>
            <a:ext cx="356626" cy="27432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0" name="Google Shape;750;p39"/>
          <p:cNvCxnSpPr/>
          <p:nvPr/>
        </p:nvCxnSpPr>
        <p:spPr>
          <a:xfrm flipH="1" rot="10800000">
            <a:off x="2064313" y="2640330"/>
            <a:ext cx="356626" cy="20574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1" name="Google Shape;751;p39"/>
          <p:cNvCxnSpPr/>
          <p:nvPr/>
        </p:nvCxnSpPr>
        <p:spPr>
          <a:xfrm flipH="1" rot="10800000">
            <a:off x="2420939" y="2468880"/>
            <a:ext cx="356626" cy="17145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2" name="Google Shape;752;p39"/>
          <p:cNvCxnSpPr/>
          <p:nvPr/>
        </p:nvCxnSpPr>
        <p:spPr>
          <a:xfrm flipH="1" rot="10800000">
            <a:off x="2777564" y="2331720"/>
            <a:ext cx="356626" cy="13716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3" name="Google Shape;753;p39"/>
          <p:cNvCxnSpPr/>
          <p:nvPr/>
        </p:nvCxnSpPr>
        <p:spPr>
          <a:xfrm flipH="1" rot="10800000">
            <a:off x="3134190" y="2194560"/>
            <a:ext cx="356626" cy="13716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4" name="Google Shape;754;p39"/>
          <p:cNvCxnSpPr/>
          <p:nvPr/>
        </p:nvCxnSpPr>
        <p:spPr>
          <a:xfrm flipH="1" rot="10800000">
            <a:off x="3490815" y="2057400"/>
            <a:ext cx="356626" cy="13716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5" name="Google Shape;755;p39"/>
          <p:cNvCxnSpPr/>
          <p:nvPr/>
        </p:nvCxnSpPr>
        <p:spPr>
          <a:xfrm flipH="1" rot="10800000">
            <a:off x="3847441" y="1954530"/>
            <a:ext cx="356626" cy="10287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6" name="Google Shape;756;p39"/>
          <p:cNvCxnSpPr/>
          <p:nvPr/>
        </p:nvCxnSpPr>
        <p:spPr>
          <a:xfrm flipH="1" rot="10800000">
            <a:off x="4204066" y="1885950"/>
            <a:ext cx="356626" cy="68580"/>
          </a:xfrm>
          <a:prstGeom prst="straightConnector1">
            <a:avLst/>
          </a:prstGeom>
          <a:noFill/>
          <a:ln cap="flat" cmpd="sng" w="27925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7" name="Google Shape;757;p39"/>
          <p:cNvCxnSpPr/>
          <p:nvPr/>
        </p:nvCxnSpPr>
        <p:spPr>
          <a:xfrm flipH="1" rot="10800000">
            <a:off x="994437" y="3463290"/>
            <a:ext cx="356626" cy="30861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8" name="Google Shape;758;p39"/>
          <p:cNvCxnSpPr/>
          <p:nvPr/>
        </p:nvCxnSpPr>
        <p:spPr>
          <a:xfrm flipH="1" rot="10800000">
            <a:off x="1351062" y="3188970"/>
            <a:ext cx="356626" cy="27432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59" name="Google Shape;759;p39"/>
          <p:cNvCxnSpPr/>
          <p:nvPr/>
        </p:nvCxnSpPr>
        <p:spPr>
          <a:xfrm flipH="1" rot="10800000">
            <a:off x="1707688" y="2948940"/>
            <a:ext cx="356626" cy="24003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0" name="Google Shape;760;p39"/>
          <p:cNvCxnSpPr/>
          <p:nvPr/>
        </p:nvCxnSpPr>
        <p:spPr>
          <a:xfrm flipH="1" rot="10800000">
            <a:off x="2064313" y="2743200"/>
            <a:ext cx="356626" cy="20574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1" name="Google Shape;761;p39"/>
          <p:cNvCxnSpPr/>
          <p:nvPr/>
        </p:nvCxnSpPr>
        <p:spPr>
          <a:xfrm flipH="1" rot="10800000">
            <a:off x="2420939" y="2640330"/>
            <a:ext cx="356626" cy="10287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2" name="Google Shape;762;p39"/>
          <p:cNvCxnSpPr/>
          <p:nvPr/>
        </p:nvCxnSpPr>
        <p:spPr>
          <a:xfrm flipH="1" rot="10800000">
            <a:off x="2777564" y="2606040"/>
            <a:ext cx="356626" cy="3429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3" name="Google Shape;763;p39"/>
          <p:cNvCxnSpPr/>
          <p:nvPr/>
        </p:nvCxnSpPr>
        <p:spPr>
          <a:xfrm>
            <a:off x="3134190" y="2606040"/>
            <a:ext cx="356626" cy="6858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4" name="Google Shape;764;p39"/>
          <p:cNvCxnSpPr/>
          <p:nvPr/>
        </p:nvCxnSpPr>
        <p:spPr>
          <a:xfrm>
            <a:off x="3490815" y="2674620"/>
            <a:ext cx="356626" cy="150876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5" name="Google Shape;765;p39"/>
          <p:cNvCxnSpPr/>
          <p:nvPr/>
        </p:nvCxnSpPr>
        <p:spPr>
          <a:xfrm>
            <a:off x="3847441" y="2825496"/>
            <a:ext cx="356626" cy="226314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6" name="Google Shape;766;p39"/>
          <p:cNvCxnSpPr/>
          <p:nvPr/>
        </p:nvCxnSpPr>
        <p:spPr>
          <a:xfrm>
            <a:off x="4204066" y="3051810"/>
            <a:ext cx="356626" cy="205740"/>
          </a:xfrm>
          <a:prstGeom prst="straightConnector1">
            <a:avLst/>
          </a:prstGeom>
          <a:noFill/>
          <a:ln cap="flat" cmpd="sng" w="27925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67" name="Google Shape;767;p39"/>
          <p:cNvCxnSpPr/>
          <p:nvPr/>
        </p:nvCxnSpPr>
        <p:spPr>
          <a:xfrm>
            <a:off x="4046328" y="1426464"/>
            <a:ext cx="171455" cy="0"/>
          </a:xfrm>
          <a:prstGeom prst="straightConnector1">
            <a:avLst/>
          </a:prstGeom>
          <a:noFill/>
          <a:ln cap="flat" cmpd="sng" w="33000">
            <a:solidFill>
              <a:srgbClr val="16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68" name="Google Shape;768;p39"/>
          <p:cNvSpPr txBox="1"/>
          <p:nvPr/>
        </p:nvSpPr>
        <p:spPr>
          <a:xfrm>
            <a:off x="4258932" y="1344168"/>
            <a:ext cx="5829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Treino</a:t>
            </a:r>
            <a:endParaRPr sz="1100"/>
          </a:p>
        </p:txBody>
      </p:sp>
      <p:cxnSp>
        <p:nvCxnSpPr>
          <p:cNvPr id="769" name="Google Shape;769;p39"/>
          <p:cNvCxnSpPr/>
          <p:nvPr/>
        </p:nvCxnSpPr>
        <p:spPr>
          <a:xfrm>
            <a:off x="4560692" y="1426464"/>
            <a:ext cx="171455" cy="0"/>
          </a:xfrm>
          <a:prstGeom prst="straightConnector1">
            <a:avLst/>
          </a:prstGeom>
          <a:noFill/>
          <a:ln cap="flat" cmpd="sng" w="33000">
            <a:solidFill>
              <a:srgbClr val="E160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70" name="Google Shape;770;p39"/>
          <p:cNvSpPr txBox="1"/>
          <p:nvPr/>
        </p:nvSpPr>
        <p:spPr>
          <a:xfrm>
            <a:off x="4773295" y="1344168"/>
            <a:ext cx="5829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sz="1100"/>
          </a:p>
        </p:txBody>
      </p:sp>
      <p:sp>
        <p:nvSpPr>
          <p:cNvPr id="771" name="Google Shape;771;p39"/>
          <p:cNvSpPr/>
          <p:nvPr/>
        </p:nvSpPr>
        <p:spPr>
          <a:xfrm>
            <a:off x="5795164" y="1131570"/>
            <a:ext cx="2640400" cy="857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9"/>
          <p:cNvSpPr/>
          <p:nvPr/>
        </p:nvSpPr>
        <p:spPr>
          <a:xfrm>
            <a:off x="5795164" y="1131570"/>
            <a:ext cx="48007" cy="857250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9"/>
          <p:cNvSpPr txBox="1"/>
          <p:nvPr/>
        </p:nvSpPr>
        <p:spPr>
          <a:xfrm>
            <a:off x="5918611" y="1220723"/>
            <a:ext cx="242093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Underfitting</a:t>
            </a:r>
            <a:endParaRPr sz="1100"/>
          </a:p>
        </p:txBody>
      </p:sp>
      <p:sp>
        <p:nvSpPr>
          <p:cNvPr id="774" name="Google Shape;774;p39"/>
          <p:cNvSpPr txBox="1"/>
          <p:nvPr/>
        </p:nvSpPr>
        <p:spPr>
          <a:xfrm>
            <a:off x="5918611" y="1488186"/>
            <a:ext cx="2420939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Treino e validação ruins: modelo insuficiente ou otimização fraca.</a:t>
            </a:r>
            <a:endParaRPr sz="1100"/>
          </a:p>
        </p:txBody>
      </p:sp>
      <p:sp>
        <p:nvSpPr>
          <p:cNvPr id="775" name="Google Shape;775;p39"/>
          <p:cNvSpPr/>
          <p:nvPr/>
        </p:nvSpPr>
        <p:spPr>
          <a:xfrm>
            <a:off x="5795164" y="2125980"/>
            <a:ext cx="2640400" cy="857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5795164" y="2125980"/>
            <a:ext cx="48007" cy="85725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9"/>
          <p:cNvSpPr txBox="1"/>
          <p:nvPr/>
        </p:nvSpPr>
        <p:spPr>
          <a:xfrm>
            <a:off x="5918611" y="2215134"/>
            <a:ext cx="242093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Bom ajuste</a:t>
            </a:r>
            <a:endParaRPr sz="1100"/>
          </a:p>
        </p:txBody>
      </p:sp>
      <p:sp>
        <p:nvSpPr>
          <p:cNvPr id="778" name="Google Shape;778;p39"/>
          <p:cNvSpPr txBox="1"/>
          <p:nvPr/>
        </p:nvSpPr>
        <p:spPr>
          <a:xfrm>
            <a:off x="5918611" y="2482596"/>
            <a:ext cx="2420939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Erro de validação baixo e estável; boa generalização.</a:t>
            </a:r>
            <a:endParaRPr sz="1100"/>
          </a:p>
        </p:txBody>
      </p:sp>
      <p:sp>
        <p:nvSpPr>
          <p:cNvPr id="779" name="Google Shape;779;p39"/>
          <p:cNvSpPr/>
          <p:nvPr/>
        </p:nvSpPr>
        <p:spPr>
          <a:xfrm>
            <a:off x="5795164" y="3120390"/>
            <a:ext cx="2640400" cy="857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9"/>
          <p:cNvSpPr/>
          <p:nvPr/>
        </p:nvSpPr>
        <p:spPr>
          <a:xfrm>
            <a:off x="5795164" y="3120390"/>
            <a:ext cx="48007" cy="857250"/>
          </a:xfrm>
          <a:prstGeom prst="rect">
            <a:avLst/>
          </a:prstGeom>
          <a:solidFill>
            <a:srgbClr val="E160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9"/>
          <p:cNvSpPr txBox="1"/>
          <p:nvPr/>
        </p:nvSpPr>
        <p:spPr>
          <a:xfrm>
            <a:off x="5918611" y="3209544"/>
            <a:ext cx="242093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sz="1100"/>
          </a:p>
        </p:txBody>
      </p:sp>
      <p:sp>
        <p:nvSpPr>
          <p:cNvPr id="782" name="Google Shape;782;p39"/>
          <p:cNvSpPr txBox="1"/>
          <p:nvPr/>
        </p:nvSpPr>
        <p:spPr>
          <a:xfrm>
            <a:off x="5918611" y="3477006"/>
            <a:ext cx="2420939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13700" spcFirstLastPara="1" rIns="1370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7243A"/>
                </a:solidFill>
                <a:latin typeface="Arial"/>
                <a:ea typeface="Arial"/>
                <a:cs typeface="Arial"/>
                <a:sym typeface="Arial"/>
              </a:rPr>
              <a:t>Treino melhora, mas validação piora: o modelo se ajusta demais ao treino.</a:t>
            </a:r>
            <a:endParaRPr sz="1100"/>
          </a:p>
        </p:txBody>
      </p:sp>
      <p:cxnSp>
        <p:nvCxnSpPr>
          <p:cNvPr id="783" name="Google Shape;783;p39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4" name="Google Shape;784;p39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785" name="Google Shape;785;p39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0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0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Trade-off viés–variância</a:t>
            </a:r>
            <a:endParaRPr sz="1100"/>
          </a:p>
        </p:txBody>
      </p:sp>
      <p:sp>
        <p:nvSpPr>
          <p:cNvPr id="792" name="Google Shape;792;p40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Complexidade demais ou de menos pode prejudicar o erro em dados novos.</a:t>
            </a:r>
            <a:endParaRPr sz="1100"/>
          </a:p>
        </p:txBody>
      </p:sp>
      <p:cxnSp>
        <p:nvCxnSpPr>
          <p:cNvPr id="793" name="Google Shape;793;p40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94" name="Google Shape;794;p40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795" name="Google Shape;795;p40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100"/>
          </a:p>
        </p:txBody>
      </p:sp>
      <p:pic>
        <p:nvPicPr>
          <p:cNvPr id="796" name="Google Shape;796;p40"/>
          <p:cNvPicPr preferRelativeResize="0"/>
          <p:nvPr/>
        </p:nvPicPr>
        <p:blipFill rotWithShape="1">
          <a:blip r:embed="rId3">
            <a:alphaModFix/>
          </a:blip>
          <a:srcRect b="7626" l="23551" r="28228" t="9757"/>
          <a:stretch/>
        </p:blipFill>
        <p:spPr>
          <a:xfrm>
            <a:off x="411500" y="1029575"/>
            <a:ext cx="2369949" cy="21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350" y="1103540"/>
            <a:ext cx="5592701" cy="351248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8" name="Google Shape;798;p40"/>
          <p:cNvPicPr preferRelativeResize="0"/>
          <p:nvPr/>
        </p:nvPicPr>
        <p:blipFill rotWithShape="1">
          <a:blip r:embed="rId5">
            <a:alphaModFix/>
          </a:blip>
          <a:srcRect b="23514" l="1643" r="1720" t="3531"/>
          <a:stretch/>
        </p:blipFill>
        <p:spPr>
          <a:xfrm>
            <a:off x="206350" y="3182950"/>
            <a:ext cx="2939537" cy="12496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1"/>
          <p:cNvSpPr/>
          <p:nvPr/>
        </p:nvSpPr>
        <p:spPr>
          <a:xfrm>
            <a:off x="0" y="0"/>
            <a:ext cx="82298" cy="5143500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1"/>
          <p:cNvSpPr txBox="1"/>
          <p:nvPr/>
        </p:nvSpPr>
        <p:spPr>
          <a:xfrm>
            <a:off x="425207" y="233172"/>
            <a:ext cx="82298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Modelos generativos: três famílias, objetivos diferentes</a:t>
            </a:r>
            <a:endParaRPr sz="1100"/>
          </a:p>
        </p:txBody>
      </p:sp>
      <p:sp>
        <p:nvSpPr>
          <p:cNvPr id="805" name="Google Shape;805;p41"/>
          <p:cNvSpPr txBox="1"/>
          <p:nvPr/>
        </p:nvSpPr>
        <p:spPr>
          <a:xfrm>
            <a:off x="438924" y="603504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 vez de apenas prever um rótulo, modelos generativos aprendem padrões para produzir ou reconstruir dados.</a:t>
            </a:r>
            <a:endParaRPr sz="1100"/>
          </a:p>
        </p:txBody>
      </p:sp>
      <p:sp>
        <p:nvSpPr>
          <p:cNvPr id="806" name="Google Shape;806;p41"/>
          <p:cNvSpPr/>
          <p:nvPr/>
        </p:nvSpPr>
        <p:spPr>
          <a:xfrm>
            <a:off x="534950" y="1268723"/>
            <a:ext cx="2606100" cy="3614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1"/>
          <p:cNvSpPr/>
          <p:nvPr/>
        </p:nvSpPr>
        <p:spPr>
          <a:xfrm>
            <a:off x="534938" y="1268730"/>
            <a:ext cx="2606109" cy="82296"/>
          </a:xfrm>
          <a:prstGeom prst="rect">
            <a:avLst/>
          </a:prstGeom>
          <a:solidFill>
            <a:srgbClr val="16B8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1"/>
          <p:cNvSpPr txBox="1"/>
          <p:nvPr/>
        </p:nvSpPr>
        <p:spPr>
          <a:xfrm>
            <a:off x="672102" y="1495044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AE / VAE</a:t>
            </a:r>
            <a:endParaRPr sz="1100"/>
          </a:p>
        </p:txBody>
      </p:sp>
      <p:sp>
        <p:nvSpPr>
          <p:cNvPr id="809" name="Google Shape;809;p41"/>
          <p:cNvSpPr txBox="1"/>
          <p:nvPr/>
        </p:nvSpPr>
        <p:spPr>
          <a:xfrm>
            <a:off x="672102" y="1728851"/>
            <a:ext cx="233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6B8A6"/>
                </a:solidFill>
                <a:latin typeface="Arial"/>
                <a:ea typeface="Arial"/>
                <a:cs typeface="Arial"/>
                <a:sym typeface="Arial"/>
              </a:rPr>
              <a:t>Codificar e reconstruir</a:t>
            </a:r>
            <a:endParaRPr sz="1100"/>
          </a:p>
        </p:txBody>
      </p:sp>
      <p:sp>
        <p:nvSpPr>
          <p:cNvPr id="810" name="Google Shape;810;p41"/>
          <p:cNvSpPr/>
          <p:nvPr/>
        </p:nvSpPr>
        <p:spPr>
          <a:xfrm>
            <a:off x="3401671" y="1268723"/>
            <a:ext cx="2606100" cy="3614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1"/>
          <p:cNvSpPr/>
          <p:nvPr/>
        </p:nvSpPr>
        <p:spPr>
          <a:xfrm>
            <a:off x="3401659" y="1268730"/>
            <a:ext cx="2606109" cy="82296"/>
          </a:xfrm>
          <a:prstGeom prst="rect">
            <a:avLst/>
          </a:prstGeom>
          <a:solidFill>
            <a:srgbClr val="F5A7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1"/>
          <p:cNvSpPr txBox="1"/>
          <p:nvPr/>
        </p:nvSpPr>
        <p:spPr>
          <a:xfrm>
            <a:off x="3538822" y="1495044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GANs</a:t>
            </a:r>
            <a:endParaRPr sz="1100"/>
          </a:p>
        </p:txBody>
      </p:sp>
      <p:sp>
        <p:nvSpPr>
          <p:cNvPr id="813" name="Google Shape;813;p41"/>
          <p:cNvSpPr txBox="1"/>
          <p:nvPr/>
        </p:nvSpPr>
        <p:spPr>
          <a:xfrm>
            <a:off x="3538822" y="1728851"/>
            <a:ext cx="233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F5A742"/>
                </a:solidFill>
                <a:latin typeface="Arial"/>
                <a:ea typeface="Arial"/>
                <a:cs typeface="Arial"/>
                <a:sym typeface="Arial"/>
              </a:rPr>
              <a:t>Gerar via competição</a:t>
            </a:r>
            <a:endParaRPr sz="1100"/>
          </a:p>
        </p:txBody>
      </p:sp>
      <p:sp>
        <p:nvSpPr>
          <p:cNvPr id="814" name="Google Shape;814;p41"/>
          <p:cNvSpPr/>
          <p:nvPr/>
        </p:nvSpPr>
        <p:spPr>
          <a:xfrm>
            <a:off x="6268390" y="1268723"/>
            <a:ext cx="2606100" cy="3614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015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1"/>
          <p:cNvSpPr/>
          <p:nvPr/>
        </p:nvSpPr>
        <p:spPr>
          <a:xfrm>
            <a:off x="6268378" y="1268730"/>
            <a:ext cx="2606109" cy="82296"/>
          </a:xfrm>
          <a:prstGeom prst="rect">
            <a:avLst/>
          </a:prstGeom>
          <a:solidFill>
            <a:srgbClr val="8170D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1"/>
          <p:cNvSpPr txBox="1"/>
          <p:nvPr/>
        </p:nvSpPr>
        <p:spPr>
          <a:xfrm>
            <a:off x="6405542" y="1495044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01B2D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sz="1100"/>
          </a:p>
        </p:txBody>
      </p:sp>
      <p:sp>
        <p:nvSpPr>
          <p:cNvPr id="817" name="Google Shape;817;p41"/>
          <p:cNvSpPr txBox="1"/>
          <p:nvPr/>
        </p:nvSpPr>
        <p:spPr>
          <a:xfrm>
            <a:off x="6405542" y="1728851"/>
            <a:ext cx="233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170D4"/>
                </a:solidFill>
                <a:latin typeface="Arial"/>
                <a:ea typeface="Arial"/>
                <a:cs typeface="Arial"/>
                <a:sym typeface="Arial"/>
              </a:rPr>
              <a:t>Predizer o próximo token</a:t>
            </a:r>
            <a:endParaRPr sz="1100"/>
          </a:p>
        </p:txBody>
      </p:sp>
      <p:cxnSp>
        <p:nvCxnSpPr>
          <p:cNvPr id="818" name="Google Shape;818;p41"/>
          <p:cNvCxnSpPr/>
          <p:nvPr/>
        </p:nvCxnSpPr>
        <p:spPr>
          <a:xfrm>
            <a:off x="377200" y="4882896"/>
            <a:ext cx="8387558" cy="0"/>
          </a:xfrm>
          <a:prstGeom prst="straightConnector1">
            <a:avLst/>
          </a:prstGeom>
          <a:noFill/>
          <a:ln cap="flat" cmpd="sng" w="9525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9" name="Google Shape;819;p41"/>
          <p:cNvSpPr txBox="1"/>
          <p:nvPr/>
        </p:nvSpPr>
        <p:spPr>
          <a:xfrm>
            <a:off x="411491" y="4917186"/>
            <a:ext cx="60352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REVISÃO • MACHINE LEARNING &amp; AI</a:t>
            </a:r>
            <a:endParaRPr sz="1100"/>
          </a:p>
        </p:txBody>
      </p:sp>
      <p:sp>
        <p:nvSpPr>
          <p:cNvPr id="820" name="Google Shape;820;p41"/>
          <p:cNvSpPr txBox="1"/>
          <p:nvPr/>
        </p:nvSpPr>
        <p:spPr>
          <a:xfrm>
            <a:off x="8298401" y="4903470"/>
            <a:ext cx="377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100"/>
          </a:p>
        </p:txBody>
      </p:sp>
      <p:pic>
        <p:nvPicPr>
          <p:cNvPr id="821" name="Google Shape;8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00" y="2173321"/>
            <a:ext cx="2483425" cy="115940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2" name="Google Shape;82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200" y="3460750"/>
            <a:ext cx="2483425" cy="11763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3" name="Google Shape;82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9400" y="2667775"/>
            <a:ext cx="2490655" cy="1176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4" name="Google Shape;82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3163" y="2005298"/>
            <a:ext cx="1956577" cy="27569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